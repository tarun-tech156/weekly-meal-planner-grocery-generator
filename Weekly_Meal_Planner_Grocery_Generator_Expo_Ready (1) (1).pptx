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changesInfos/changesInfo1.xml" ContentType="application/vnd.ms-powerpoint.changes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7" r:id="rId12"/>
    <p:sldId id="268" r:id="rId13"/>
    <p:sldId id="269" r:id="rId14"/>
    <p:sldId id="273" r:id="rId15"/>
    <p:sldId id="274" r:id="rId16"/>
    <p:sldId id="270" r:id="rId17"/>
    <p:sldId id="271" r:id="rId18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20"/>
    <p:restoredTop sz="95535" autoAdjust="0"/>
  </p:normalViewPr>
  <p:slideViewPr>
    <p:cSldViewPr snapToGrid="0" snapToObjects="1">
      <p:cViewPr varScale="1">
        <p:scale>
          <a:sx n="96" d="100"/>
          <a:sy n="96" d="100"/>
        </p:scale>
        <p:origin x="149" y="6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" Type="http://schemas.openxmlformats.org/officeDocument/2006/relationships/slide" Target="slides/slide2.xml"/><Relationship Id="rId21" Type="http://schemas.openxmlformats.org/officeDocument/2006/relationships/theme" Target="theme/theme1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viewProps" Target="view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microsoft.com/office/2016/11/relationships/changesInfo" Target="changesInfos/changesInfo1.xml"/><Relationship Id="rId10" Type="http://schemas.openxmlformats.org/officeDocument/2006/relationships/slide" Target="slides/slide9.xml"/><Relationship Id="rId19" Type="http://schemas.openxmlformats.org/officeDocument/2006/relationships/presProps" Target="pres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tableStyles" Target="tableStyles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tarunkumar1125@outlook.com" userId="d632c8b31c4b8e05" providerId="LiveId" clId="{B2F987E1-A47A-4CDD-A76E-96E5A4752B6C}"/>
    <pc:docChg chg="delSld">
      <pc:chgData name="tarunkumar1125@outlook.com" userId="d632c8b31c4b8e05" providerId="LiveId" clId="{B2F987E1-A47A-4CDD-A76E-96E5A4752B6C}" dt="2026-10-16T06:31:20.786" v="0" actId="47"/>
      <pc:docMkLst>
        <pc:docMk/>
      </pc:docMkLst>
      <pc:sldChg chg="del">
        <pc:chgData name="tarunkumar1125@outlook.com" userId="d632c8b31c4b8e05" providerId="LiveId" clId="{B2F987E1-A47A-4CDD-A76E-96E5A4752B6C}" dt="2026-10-16T06:31:20.786" v="0" actId="47"/>
        <pc:sldMkLst>
          <pc:docMk/>
          <pc:sldMk cId="0" sldId="272"/>
        </pc:sldMkLst>
      </pc:sldChg>
    </pc:docChg>
  </pc:docChgLst>
</pc:chgInfo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10/16/2026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10/16/2026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10/16/2026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10/16/2026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10/16/2026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10/16/2026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10/16/2026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10/16/2026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10/16/2026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10/16/2026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10/16/2026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10/16/2026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7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7.xml"/><Relationship Id="rId5" Type="http://schemas.openxmlformats.org/officeDocument/2006/relationships/image" Target="../media/image8.png"/><Relationship Id="rId4" Type="http://schemas.openxmlformats.org/officeDocument/2006/relationships/image" Target="../media/image7.png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7.xml"/><Relationship Id="rId5" Type="http://schemas.openxmlformats.org/officeDocument/2006/relationships/image" Target="../media/image12.png"/><Relationship Id="rId4" Type="http://schemas.openxmlformats.org/officeDocument/2006/relationships/image" Target="../media/image11.png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422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Oval 2"/>
          <p:cNvSpPr/>
          <p:nvPr/>
        </p:nvSpPr>
        <p:spPr>
          <a:xfrm>
            <a:off x="9875520" y="182880"/>
            <a:ext cx="1828800" cy="1828800"/>
          </a:xfrm>
          <a:prstGeom prst="ellipse">
            <a:avLst/>
          </a:prstGeom>
          <a:solidFill>
            <a:srgbClr val="0096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Oval 3"/>
          <p:cNvSpPr/>
          <p:nvPr/>
        </p:nvSpPr>
        <p:spPr>
          <a:xfrm>
            <a:off x="10698480" y="5303520"/>
            <a:ext cx="1371600" cy="1371600"/>
          </a:xfrm>
          <a:prstGeom prst="ellipse">
            <a:avLst/>
          </a:prstGeom>
          <a:solidFill>
            <a:srgbClr val="F5A62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Oval 4"/>
          <p:cNvSpPr/>
          <p:nvPr/>
        </p:nvSpPr>
        <p:spPr>
          <a:xfrm>
            <a:off x="182880" y="5760720"/>
            <a:ext cx="1005840" cy="1005840"/>
          </a:xfrm>
          <a:prstGeom prst="ellipse">
            <a:avLst/>
          </a:prstGeom>
          <a:solidFill>
            <a:srgbClr val="0096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777240" y="1143000"/>
            <a:ext cx="10515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800" b="1">
                <a:solidFill>
                  <a:srgbClr val="FFFFFF"/>
                </a:solidFill>
                <a:latin typeface="Aptos Display"/>
              </a:rPr>
              <a:t>WEEKLY MEAL PLANNER
&amp; GROCERY GENERATOR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2788920"/>
            <a:ext cx="91440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>
                <a:solidFill>
                  <a:srgbClr val="CDE6E2"/>
                </a:solidFill>
                <a:latin typeface="Aptos"/>
              </a:rPr>
              <a:t>Java Mini Project Presentation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3794760"/>
            <a:ext cx="5645776" cy="15696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600"/>
              </a:spcAft>
              <a:defRPr sz="1600">
                <a:solidFill>
                  <a:srgbClr val="FFFFFF"/>
                </a:solidFill>
                <a:latin typeface="Aptos"/>
              </a:defRPr>
            </a:pPr>
            <a:r>
              <a:rPr dirty="0"/>
              <a:t>Branch: Computer Science &amp; Information Technology (CS &amp; IT)</a:t>
            </a:r>
          </a:p>
          <a:p>
            <a:pPr>
              <a:spcAft>
                <a:spcPts val="600"/>
              </a:spcAft>
              <a:defRPr sz="1500">
                <a:solidFill>
                  <a:srgbClr val="FFFFFF"/>
                </a:solidFill>
                <a:latin typeface="Aptos"/>
              </a:defRPr>
            </a:pPr>
            <a:r>
              <a:rPr dirty="0"/>
              <a:t>Team Members:</a:t>
            </a:r>
          </a:p>
          <a:p>
            <a:pPr>
              <a:spcAft>
                <a:spcPts val="600"/>
              </a:spcAft>
              <a:defRPr sz="1500">
                <a:solidFill>
                  <a:srgbClr val="FFFFFF"/>
                </a:solidFill>
                <a:latin typeface="Aptos"/>
              </a:defRPr>
            </a:pPr>
            <a:r>
              <a:rPr dirty="0"/>
              <a:t>1. Y. Tarun Kumar  —  2620090136</a:t>
            </a:r>
          </a:p>
          <a:p>
            <a:pPr>
              <a:spcAft>
                <a:spcPts val="600"/>
              </a:spcAft>
              <a:defRPr sz="1500">
                <a:solidFill>
                  <a:srgbClr val="FFFFFF"/>
                </a:solidFill>
                <a:latin typeface="Aptos"/>
              </a:defRPr>
            </a:pPr>
            <a:r>
              <a:rPr dirty="0"/>
              <a:t>2. E. Sharan Teja  —  2620090134</a:t>
            </a:r>
          </a:p>
          <a:p>
            <a:pPr>
              <a:spcAft>
                <a:spcPts val="600"/>
              </a:spcAft>
              <a:defRPr sz="1500">
                <a:solidFill>
                  <a:srgbClr val="FFFFFF"/>
                </a:solidFill>
                <a:latin typeface="Aptos"/>
              </a:defRPr>
            </a:pPr>
            <a:r>
              <a:rPr dirty="0"/>
              <a:t>Faculty Guide:</a:t>
            </a:r>
            <a:r>
              <a:rPr lang="en-IN" dirty="0"/>
              <a:t> V.</a:t>
            </a:r>
            <a:r>
              <a:rPr dirty="0"/>
              <a:t> Gopikrishna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94360" y="6473952"/>
            <a:ext cx="109728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800">
                <a:solidFill>
                  <a:srgbClr val="697480"/>
                </a:solidFill>
                <a:latin typeface="Aptos"/>
              </a:rPr>
              <a:t>CS &amp; IT  |  Weekly Meal Planner &amp; Grocery Generator  |  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2F8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94360" y="320040"/>
            <a:ext cx="10972800" cy="5943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800" b="1">
                <a:solidFill>
                  <a:srgbClr val="14223D"/>
                </a:solidFill>
                <a:latin typeface="Aptos Display"/>
              </a:rPr>
              <a:t>1. Introduction</a:t>
            </a:r>
          </a:p>
        </p:txBody>
      </p:sp>
      <p:sp>
        <p:nvSpPr>
          <p:cNvPr id="4" name="Rectangle 3"/>
          <p:cNvSpPr/>
          <p:nvPr/>
        </p:nvSpPr>
        <p:spPr>
          <a:xfrm>
            <a:off x="594360" y="1170432"/>
            <a:ext cx="10972800" cy="45720"/>
          </a:xfrm>
          <a:prstGeom prst="rect">
            <a:avLst/>
          </a:prstGeom>
          <a:solidFill>
            <a:srgbClr val="0096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777240" y="1508760"/>
            <a:ext cx="1051560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1900">
                <a:solidFill>
                  <a:srgbClr val="232B34"/>
                </a:solidFill>
                <a:latin typeface="Aptos"/>
              </a:defRPr>
            </a:pPr>
            <a:r>
              <a:t>Java-based console application for planning meals across seven days.</a:t>
            </a:r>
          </a:p>
          <a:p>
            <a:pPr>
              <a:spcAft>
                <a:spcPts val="1200"/>
              </a:spcAft>
              <a:defRPr sz="1900">
                <a:solidFill>
                  <a:srgbClr val="232B34"/>
                </a:solidFill>
                <a:latin typeface="Aptos"/>
              </a:defRPr>
            </a:pPr>
            <a:r>
              <a:t>Users select Breakfast, Lunch, or Dinner for each day.</a:t>
            </a:r>
          </a:p>
          <a:p>
            <a:pPr>
              <a:spcAft>
                <a:spcPts val="1200"/>
              </a:spcAft>
              <a:defRPr sz="1900">
                <a:solidFill>
                  <a:srgbClr val="232B34"/>
                </a:solidFill>
                <a:latin typeface="Aptos"/>
              </a:defRPr>
            </a:pPr>
            <a:r>
              <a:t>The program adds the selected meal cost to an estimated weekly total.</a:t>
            </a:r>
          </a:p>
          <a:p>
            <a:pPr>
              <a:spcAft>
                <a:spcPts val="1200"/>
              </a:spcAft>
              <a:defRPr sz="1900">
                <a:solidFill>
                  <a:srgbClr val="232B34"/>
                </a:solidFill>
                <a:latin typeface="Aptos"/>
              </a:defRPr>
            </a:pPr>
            <a:r>
              <a:t>It checks grocery availability and displays missing items to buy.</a:t>
            </a:r>
          </a:p>
          <a:p>
            <a:pPr>
              <a:spcAft>
                <a:spcPts val="1200"/>
              </a:spcAft>
              <a:defRPr sz="1900">
                <a:solidFill>
                  <a:srgbClr val="232B34"/>
                </a:solidFill>
                <a:latin typeface="Aptos"/>
              </a:defRPr>
            </a:pPr>
            <a:r>
              <a:t>Uses core Java concepts such as Scanner, arrays, loops, switch, and if conditions.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4360" y="6473952"/>
            <a:ext cx="109728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800">
                <a:solidFill>
                  <a:srgbClr val="697480"/>
                </a:solidFill>
                <a:latin typeface="Aptos"/>
              </a:rPr>
              <a:t>CS &amp; IT  |  Weekly Meal Planner &amp; Grocery Generator  |  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2F8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94360" y="320040"/>
            <a:ext cx="10972800" cy="5943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800" b="1">
                <a:solidFill>
                  <a:srgbClr val="14223D"/>
                </a:solidFill>
                <a:latin typeface="Aptos Display"/>
              </a:rPr>
              <a:t>2. Problem Statement</a:t>
            </a:r>
          </a:p>
        </p:txBody>
      </p:sp>
      <p:sp>
        <p:nvSpPr>
          <p:cNvPr id="4" name="Rectangle 3"/>
          <p:cNvSpPr/>
          <p:nvPr/>
        </p:nvSpPr>
        <p:spPr>
          <a:xfrm>
            <a:off x="594360" y="1170432"/>
            <a:ext cx="10972800" cy="45720"/>
          </a:xfrm>
          <a:prstGeom prst="rect">
            <a:avLst/>
          </a:prstGeom>
          <a:solidFill>
            <a:srgbClr val="0096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Rounded Rectangle 4"/>
          <p:cNvSpPr/>
          <p:nvPr/>
        </p:nvSpPr>
        <p:spPr>
          <a:xfrm>
            <a:off x="731520" y="1554480"/>
            <a:ext cx="5303520" cy="4114800"/>
          </a:xfrm>
          <a:prstGeom prst="roundRect">
            <a:avLst/>
          </a:prstGeom>
          <a:solidFill>
            <a:srgbClr val="FFFFFF"/>
          </a:solidFill>
          <a:ln>
            <a:solidFill>
              <a:srgbClr val="DCE4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Rectangle 5"/>
          <p:cNvSpPr/>
          <p:nvPr/>
        </p:nvSpPr>
        <p:spPr>
          <a:xfrm>
            <a:off x="731520" y="1554480"/>
            <a:ext cx="73152" cy="4114800"/>
          </a:xfrm>
          <a:prstGeom prst="rect">
            <a:avLst/>
          </a:prstGeom>
          <a:solidFill>
            <a:srgbClr val="0096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960120" y="1719072"/>
            <a:ext cx="489204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800" b="1">
                <a:solidFill>
                  <a:srgbClr val="14223D"/>
                </a:solidFill>
                <a:latin typeface="Aptos Display"/>
              </a:rPr>
              <a:t>The Problem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60120" y="2194560"/>
            <a:ext cx="4892040" cy="3337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>
                <a:solidFill>
                  <a:srgbClr val="232B34"/>
                </a:solidFill>
                <a:latin typeface="Aptos"/>
              </a:rPr>
              <a:t>Manual meal planning can be repetitive and easy to forget.
• Meals must be planned day by day.
• Grocery availability is checked separately.
• Cost has to be calculated manually.
• Missing items may be overlooked.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63640" y="1554480"/>
            <a:ext cx="5212080" cy="4114800"/>
          </a:xfrm>
          <a:prstGeom prst="roundRect">
            <a:avLst/>
          </a:prstGeom>
          <a:solidFill>
            <a:srgbClr val="FFFFFF"/>
          </a:solidFill>
          <a:ln>
            <a:solidFill>
              <a:srgbClr val="DCE4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Rectangle 9"/>
          <p:cNvSpPr/>
          <p:nvPr/>
        </p:nvSpPr>
        <p:spPr>
          <a:xfrm>
            <a:off x="6263640" y="1554480"/>
            <a:ext cx="73152" cy="4114800"/>
          </a:xfrm>
          <a:prstGeom prst="rect">
            <a:avLst/>
          </a:prstGeom>
          <a:solidFill>
            <a:srgbClr val="F5A62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6492240" y="1719072"/>
            <a:ext cx="48006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800" b="1">
                <a:solidFill>
                  <a:srgbClr val="14223D"/>
                </a:solidFill>
                <a:latin typeface="Aptos Display"/>
              </a:rPr>
              <a:t>Our Approach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92240" y="2194560"/>
            <a:ext cx="4800600" cy="3337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>
                <a:solidFill>
                  <a:srgbClr val="232B34"/>
                </a:solidFill>
                <a:latin typeface="Aptos"/>
              </a:rPr>
              <a:t>Create one simple Java program that:
• plans meals for all 7 days,
• calculates the estimated cost,
• checks Rice, Chicken, Vegetables and Oil,
• tells the user which missing items to buy.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94360" y="6473952"/>
            <a:ext cx="109728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800">
                <a:solidFill>
                  <a:srgbClr val="697480"/>
                </a:solidFill>
                <a:latin typeface="Aptos"/>
              </a:rPr>
              <a:t>CS &amp; IT  |  Weekly Meal Planner &amp; Grocery Generator  |  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2F8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94360" y="320040"/>
            <a:ext cx="10972800" cy="5943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800" b="1">
                <a:solidFill>
                  <a:srgbClr val="14223D"/>
                </a:solidFill>
                <a:latin typeface="Aptos Display"/>
              </a:rPr>
              <a:t>3. Objectives</a:t>
            </a:r>
          </a:p>
        </p:txBody>
      </p:sp>
      <p:sp>
        <p:nvSpPr>
          <p:cNvPr id="4" name="Rectangle 3"/>
          <p:cNvSpPr/>
          <p:nvPr/>
        </p:nvSpPr>
        <p:spPr>
          <a:xfrm>
            <a:off x="594360" y="1170432"/>
            <a:ext cx="10972800" cy="45720"/>
          </a:xfrm>
          <a:prstGeom prst="rect">
            <a:avLst/>
          </a:prstGeom>
          <a:solidFill>
            <a:srgbClr val="0096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777240" y="1508760"/>
            <a:ext cx="1051560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1900">
                <a:solidFill>
                  <a:srgbClr val="232B34"/>
                </a:solidFill>
                <a:latin typeface="Aptos"/>
              </a:defRPr>
            </a:pPr>
            <a:r>
              <a:t>Plan meals for Monday to Sunday.</a:t>
            </a:r>
          </a:p>
          <a:p>
            <a:pPr>
              <a:spcAft>
                <a:spcPts val="1200"/>
              </a:spcAft>
              <a:defRPr sz="1900">
                <a:solidFill>
                  <a:srgbClr val="232B34"/>
                </a:solidFill>
                <a:latin typeface="Aptos"/>
              </a:defRPr>
            </a:pPr>
            <a:r>
              <a:t>Provide three meal choices: Breakfast, Lunch and Dinner.</a:t>
            </a:r>
          </a:p>
          <a:p>
            <a:pPr>
              <a:spcAft>
                <a:spcPts val="1200"/>
              </a:spcAft>
              <a:defRPr sz="1900">
                <a:solidFill>
                  <a:srgbClr val="232B34"/>
                </a:solidFill>
                <a:latin typeface="Aptos"/>
              </a:defRPr>
            </a:pPr>
            <a:r>
              <a:t>Calculate the total estimated meal cost automatically.</a:t>
            </a:r>
          </a:p>
          <a:p>
            <a:pPr>
              <a:spcAft>
                <a:spcPts val="1200"/>
              </a:spcAft>
              <a:defRPr sz="1900">
                <a:solidFill>
                  <a:srgbClr val="232B34"/>
                </a:solidFill>
                <a:latin typeface="Aptos"/>
              </a:defRPr>
            </a:pPr>
            <a:r>
              <a:t>Check whether important grocery items are available.</a:t>
            </a:r>
          </a:p>
          <a:p>
            <a:pPr>
              <a:spcAft>
                <a:spcPts val="1200"/>
              </a:spcAft>
              <a:defRPr sz="1900">
                <a:solidFill>
                  <a:srgbClr val="232B34"/>
                </a:solidFill>
                <a:latin typeface="Aptos"/>
              </a:defRPr>
            </a:pPr>
            <a:r>
              <a:t>Display a clear list of items that need to be purchased.</a:t>
            </a:r>
          </a:p>
          <a:p>
            <a:pPr>
              <a:spcAft>
                <a:spcPts val="1200"/>
              </a:spcAft>
              <a:defRPr sz="1900">
                <a:solidFill>
                  <a:srgbClr val="232B34"/>
                </a:solidFill>
                <a:latin typeface="Aptos"/>
              </a:defRPr>
            </a:pPr>
            <a:r>
              <a:t>Demonstrate practical use of fundamental Java programming concepts.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4360" y="6473952"/>
            <a:ext cx="109728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800">
                <a:solidFill>
                  <a:srgbClr val="697480"/>
                </a:solidFill>
                <a:latin typeface="Aptos"/>
              </a:rPr>
              <a:t>CS &amp; IT  |  Weekly Meal Planner &amp; Grocery Generator  |  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2F8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94360" y="320040"/>
            <a:ext cx="10972800" cy="5943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800" b="1">
                <a:solidFill>
                  <a:srgbClr val="14223D"/>
                </a:solidFill>
                <a:latin typeface="Aptos Display"/>
              </a:rPr>
              <a:t>4. Existing System</a:t>
            </a:r>
          </a:p>
        </p:txBody>
      </p:sp>
      <p:sp>
        <p:nvSpPr>
          <p:cNvPr id="4" name="Rectangle 3"/>
          <p:cNvSpPr/>
          <p:nvPr/>
        </p:nvSpPr>
        <p:spPr>
          <a:xfrm>
            <a:off x="594360" y="1170432"/>
            <a:ext cx="10972800" cy="45720"/>
          </a:xfrm>
          <a:prstGeom prst="rect">
            <a:avLst/>
          </a:prstGeom>
          <a:solidFill>
            <a:srgbClr val="0096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Rounded Rectangle 4"/>
          <p:cNvSpPr/>
          <p:nvPr/>
        </p:nvSpPr>
        <p:spPr>
          <a:xfrm>
            <a:off x="731520" y="1508760"/>
            <a:ext cx="3474720" cy="4389120"/>
          </a:xfrm>
          <a:prstGeom prst="roundRect">
            <a:avLst/>
          </a:prstGeom>
          <a:solidFill>
            <a:srgbClr val="FFFFFF"/>
          </a:solidFill>
          <a:ln>
            <a:solidFill>
              <a:srgbClr val="DCE4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Rectangle 5"/>
          <p:cNvSpPr/>
          <p:nvPr/>
        </p:nvSpPr>
        <p:spPr>
          <a:xfrm>
            <a:off x="731520" y="1508760"/>
            <a:ext cx="73152" cy="4389120"/>
          </a:xfrm>
          <a:prstGeom prst="rect">
            <a:avLst/>
          </a:prstGeom>
          <a:solidFill>
            <a:srgbClr val="0096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960120" y="1673351"/>
            <a:ext cx="3063239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800" b="1">
                <a:solidFill>
                  <a:srgbClr val="14223D"/>
                </a:solidFill>
                <a:latin typeface="Aptos Display"/>
              </a:rPr>
              <a:t>Manual Planning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60120" y="2148839"/>
            <a:ext cx="3063239" cy="361187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>
                <a:solidFill>
                  <a:srgbClr val="232B34"/>
                </a:solidFill>
                <a:latin typeface="Aptos"/>
              </a:rPr>
              <a:t>Meals are usually written in notes or on paper.
No automatic weekly repetition or validation.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370832" y="1508760"/>
            <a:ext cx="3474720" cy="4389120"/>
          </a:xfrm>
          <a:prstGeom prst="roundRect">
            <a:avLst/>
          </a:prstGeom>
          <a:solidFill>
            <a:srgbClr val="FFFFFF"/>
          </a:solidFill>
          <a:ln>
            <a:solidFill>
              <a:srgbClr val="DCE4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Rectangle 9"/>
          <p:cNvSpPr/>
          <p:nvPr/>
        </p:nvSpPr>
        <p:spPr>
          <a:xfrm>
            <a:off x="4370832" y="1508760"/>
            <a:ext cx="73152" cy="4389120"/>
          </a:xfrm>
          <a:prstGeom prst="rect">
            <a:avLst/>
          </a:prstGeom>
          <a:solidFill>
            <a:srgbClr val="F5A62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4599432" y="1673351"/>
            <a:ext cx="3063239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800" b="1">
                <a:solidFill>
                  <a:srgbClr val="14223D"/>
                </a:solidFill>
                <a:latin typeface="Aptos Display"/>
              </a:rPr>
              <a:t>Separate Grocery Check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99432" y="2148839"/>
            <a:ext cx="3063239" cy="361187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>
                <a:solidFill>
                  <a:srgbClr val="232B34"/>
                </a:solidFill>
                <a:latin typeface="Aptos"/>
              </a:rPr>
              <a:t>Users check grocery items independently.
Missing items can be forgotten.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010144" y="1508760"/>
            <a:ext cx="3474720" cy="4389120"/>
          </a:xfrm>
          <a:prstGeom prst="roundRect">
            <a:avLst/>
          </a:prstGeom>
          <a:solidFill>
            <a:srgbClr val="FFFFFF"/>
          </a:solidFill>
          <a:ln>
            <a:solidFill>
              <a:srgbClr val="DCE4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Rectangle 13"/>
          <p:cNvSpPr/>
          <p:nvPr/>
        </p:nvSpPr>
        <p:spPr>
          <a:xfrm>
            <a:off x="8010144" y="1508760"/>
            <a:ext cx="73152" cy="4389120"/>
          </a:xfrm>
          <a:prstGeom prst="rect">
            <a:avLst/>
          </a:prstGeom>
          <a:solidFill>
            <a:srgbClr val="2891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8238744" y="1673351"/>
            <a:ext cx="3063239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800" b="1">
                <a:solidFill>
                  <a:srgbClr val="14223D"/>
                </a:solidFill>
                <a:latin typeface="Aptos Display"/>
              </a:rPr>
              <a:t>Manual Costing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238744" y="2148839"/>
            <a:ext cx="3063239" cy="361187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>
                <a:solidFill>
                  <a:srgbClr val="232B34"/>
                </a:solidFill>
                <a:latin typeface="Aptos"/>
              </a:rPr>
              <a:t>Meal prices are added separately.
This takes extra time and effort.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94360" y="6473952"/>
            <a:ext cx="109728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800">
                <a:solidFill>
                  <a:srgbClr val="697480"/>
                </a:solidFill>
                <a:latin typeface="Aptos"/>
              </a:rPr>
              <a:t>CS &amp; IT  |  Weekly Meal Planner &amp; Grocery Generator  |  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2F8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94360" y="320040"/>
            <a:ext cx="10972800" cy="5943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800" b="1">
                <a:solidFill>
                  <a:srgbClr val="14223D"/>
                </a:solidFill>
                <a:latin typeface="Aptos Display"/>
              </a:rPr>
              <a:t>5. Proposed System</a:t>
            </a:r>
          </a:p>
        </p:txBody>
      </p:sp>
      <p:sp>
        <p:nvSpPr>
          <p:cNvPr id="4" name="Rectangle 3"/>
          <p:cNvSpPr/>
          <p:nvPr/>
        </p:nvSpPr>
        <p:spPr>
          <a:xfrm>
            <a:off x="594360" y="1170432"/>
            <a:ext cx="10972800" cy="45720"/>
          </a:xfrm>
          <a:prstGeom prst="rect">
            <a:avLst/>
          </a:prstGeom>
          <a:solidFill>
            <a:srgbClr val="0096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Oval 4"/>
          <p:cNvSpPr/>
          <p:nvPr/>
        </p:nvSpPr>
        <p:spPr>
          <a:xfrm>
            <a:off x="640080" y="1828800"/>
            <a:ext cx="731520" cy="731520"/>
          </a:xfrm>
          <a:prstGeom prst="ellipse">
            <a:avLst/>
          </a:prstGeom>
          <a:solidFill>
            <a:srgbClr val="0096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800" b="1">
                <a:solidFill>
                  <a:srgbClr val="FFFFFF"/>
                </a:solidFill>
              </a:rPr>
              <a:t>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20040" y="2697480"/>
            <a:ext cx="13716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400" b="1">
                <a:solidFill>
                  <a:srgbClr val="14223D"/>
                </a:solidFill>
              </a:rPr>
              <a:t>Select Day</a:t>
            </a:r>
          </a:p>
        </p:txBody>
      </p:sp>
      <p:sp>
        <p:nvSpPr>
          <p:cNvPr id="7" name="Rectangle 6"/>
          <p:cNvSpPr/>
          <p:nvPr/>
        </p:nvSpPr>
        <p:spPr>
          <a:xfrm>
            <a:off x="1371600" y="2148840"/>
            <a:ext cx="1554480" cy="54864"/>
          </a:xfrm>
          <a:prstGeom prst="rect">
            <a:avLst/>
          </a:prstGeom>
          <a:solidFill>
            <a:srgbClr val="F5A62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Oval 7"/>
          <p:cNvSpPr/>
          <p:nvPr/>
        </p:nvSpPr>
        <p:spPr>
          <a:xfrm>
            <a:off x="2926080" y="1828800"/>
            <a:ext cx="731520" cy="731520"/>
          </a:xfrm>
          <a:prstGeom prst="ellipse">
            <a:avLst/>
          </a:prstGeom>
          <a:solidFill>
            <a:srgbClr val="0096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800" b="1">
                <a:solidFill>
                  <a:srgbClr val="FFFFFF"/>
                </a:solidFill>
              </a:rPr>
              <a:t>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606040" y="2697480"/>
            <a:ext cx="13716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400" b="1">
                <a:solidFill>
                  <a:srgbClr val="14223D"/>
                </a:solidFill>
              </a:rPr>
              <a:t>Choose Meal</a:t>
            </a:r>
          </a:p>
        </p:txBody>
      </p:sp>
      <p:sp>
        <p:nvSpPr>
          <p:cNvPr id="10" name="Rectangle 9"/>
          <p:cNvSpPr/>
          <p:nvPr/>
        </p:nvSpPr>
        <p:spPr>
          <a:xfrm>
            <a:off x="3657600" y="2148840"/>
            <a:ext cx="1554480" cy="54864"/>
          </a:xfrm>
          <a:prstGeom prst="rect">
            <a:avLst/>
          </a:prstGeom>
          <a:solidFill>
            <a:srgbClr val="F5A62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Oval 10"/>
          <p:cNvSpPr/>
          <p:nvPr/>
        </p:nvSpPr>
        <p:spPr>
          <a:xfrm>
            <a:off x="5212080" y="1828800"/>
            <a:ext cx="731520" cy="731520"/>
          </a:xfrm>
          <a:prstGeom prst="ellipse">
            <a:avLst/>
          </a:prstGeom>
          <a:solidFill>
            <a:srgbClr val="0096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800" b="1">
                <a:solidFill>
                  <a:srgbClr val="FFFFFF"/>
                </a:solidFill>
              </a:rPr>
              <a:t>3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892040" y="2697480"/>
            <a:ext cx="13716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400" b="1">
                <a:solidFill>
                  <a:srgbClr val="14223D"/>
                </a:solidFill>
              </a:rPr>
              <a:t>Add Cost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943600" y="2148840"/>
            <a:ext cx="1554480" cy="54864"/>
          </a:xfrm>
          <a:prstGeom prst="rect">
            <a:avLst/>
          </a:prstGeom>
          <a:solidFill>
            <a:srgbClr val="F5A62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Oval 13"/>
          <p:cNvSpPr/>
          <p:nvPr/>
        </p:nvSpPr>
        <p:spPr>
          <a:xfrm>
            <a:off x="7498079" y="1828800"/>
            <a:ext cx="731520" cy="731520"/>
          </a:xfrm>
          <a:prstGeom prst="ellipse">
            <a:avLst/>
          </a:prstGeom>
          <a:solidFill>
            <a:srgbClr val="0096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800" b="1">
                <a:solidFill>
                  <a:srgbClr val="FFFFFF"/>
                </a:solidFill>
              </a:rPr>
              <a:t>4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178040" y="2697480"/>
            <a:ext cx="13716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400" b="1">
                <a:solidFill>
                  <a:srgbClr val="14223D"/>
                </a:solidFill>
              </a:rPr>
              <a:t>Check Groceries</a:t>
            </a:r>
          </a:p>
        </p:txBody>
      </p:sp>
      <p:sp>
        <p:nvSpPr>
          <p:cNvPr id="16" name="Rectangle 15"/>
          <p:cNvSpPr/>
          <p:nvPr/>
        </p:nvSpPr>
        <p:spPr>
          <a:xfrm>
            <a:off x="8229600" y="2148840"/>
            <a:ext cx="1554480" cy="54864"/>
          </a:xfrm>
          <a:prstGeom prst="rect">
            <a:avLst/>
          </a:prstGeom>
          <a:solidFill>
            <a:srgbClr val="F5A62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Oval 16"/>
          <p:cNvSpPr/>
          <p:nvPr/>
        </p:nvSpPr>
        <p:spPr>
          <a:xfrm>
            <a:off x="9784080" y="1828800"/>
            <a:ext cx="731520" cy="731520"/>
          </a:xfrm>
          <a:prstGeom prst="ellipse">
            <a:avLst/>
          </a:prstGeom>
          <a:solidFill>
            <a:srgbClr val="0096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800" b="1">
                <a:solidFill>
                  <a:srgbClr val="FFFFFF"/>
                </a:solidFill>
              </a:rPr>
              <a:t>5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464040" y="2697480"/>
            <a:ext cx="13716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400" b="1">
                <a:solidFill>
                  <a:srgbClr val="14223D"/>
                </a:solidFill>
              </a:rPr>
              <a:t>Show Total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1828800" y="3886200"/>
            <a:ext cx="8503920" cy="1508760"/>
          </a:xfrm>
          <a:prstGeom prst="roundRect">
            <a:avLst/>
          </a:prstGeom>
          <a:solidFill>
            <a:srgbClr val="FFFFFF"/>
          </a:solidFill>
          <a:ln>
            <a:solidFill>
              <a:srgbClr val="DCE4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Rectangle 19"/>
          <p:cNvSpPr/>
          <p:nvPr/>
        </p:nvSpPr>
        <p:spPr>
          <a:xfrm>
            <a:off x="1828800" y="3886200"/>
            <a:ext cx="73152" cy="1508760"/>
          </a:xfrm>
          <a:prstGeom prst="rect">
            <a:avLst/>
          </a:prstGeom>
          <a:solidFill>
            <a:srgbClr val="2891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TextBox 20"/>
          <p:cNvSpPr txBox="1"/>
          <p:nvPr/>
        </p:nvSpPr>
        <p:spPr>
          <a:xfrm>
            <a:off x="2057400" y="4050791"/>
            <a:ext cx="809244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800" b="1">
                <a:solidFill>
                  <a:srgbClr val="14223D"/>
                </a:solidFill>
                <a:latin typeface="Aptos Display"/>
              </a:rPr>
              <a:t>Result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057400" y="4526280"/>
            <a:ext cx="8092440" cy="73151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>
                <a:solidFill>
                  <a:srgbClr val="232B34"/>
                </a:solidFill>
                <a:latin typeface="Aptos"/>
              </a:rPr>
              <a:t>A simple weekly meal plan + grocery availability check + estimated cost.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94360" y="6473952"/>
            <a:ext cx="109728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800">
                <a:solidFill>
                  <a:srgbClr val="697480"/>
                </a:solidFill>
                <a:latin typeface="Aptos"/>
              </a:rPr>
              <a:t>CS &amp; IT  |  Weekly Meal Planner &amp; Grocery Generator  |  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2F8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94360" y="320040"/>
            <a:ext cx="10972800" cy="5943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800" b="1">
                <a:solidFill>
                  <a:srgbClr val="14223D"/>
                </a:solidFill>
                <a:latin typeface="Aptos Display"/>
              </a:rPr>
              <a:t>6. System Architecture</a:t>
            </a:r>
          </a:p>
        </p:txBody>
      </p:sp>
      <p:sp>
        <p:nvSpPr>
          <p:cNvPr id="4" name="Rectangle 3"/>
          <p:cNvSpPr/>
          <p:nvPr/>
        </p:nvSpPr>
        <p:spPr>
          <a:xfrm>
            <a:off x="594360" y="1170432"/>
            <a:ext cx="10972800" cy="45720"/>
          </a:xfrm>
          <a:prstGeom prst="rect">
            <a:avLst/>
          </a:prstGeom>
          <a:solidFill>
            <a:srgbClr val="0096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Rounded Rectangle 4"/>
          <p:cNvSpPr/>
          <p:nvPr/>
        </p:nvSpPr>
        <p:spPr>
          <a:xfrm>
            <a:off x="822960" y="2103120"/>
            <a:ext cx="1645920" cy="914400"/>
          </a:xfrm>
          <a:prstGeom prst="roundRect">
            <a:avLst/>
          </a:prstGeom>
          <a:solidFill>
            <a:srgbClr val="FFFFFF"/>
          </a:solidFill>
          <a:ln>
            <a:solidFill>
              <a:srgbClr val="0096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300" b="1">
                <a:solidFill>
                  <a:srgbClr val="14223D"/>
                </a:solidFill>
                <a:latin typeface="Aptos"/>
              </a:rPr>
              <a:t>USER INPUT</a:t>
            </a:r>
          </a:p>
        </p:txBody>
      </p:sp>
      <p:sp>
        <p:nvSpPr>
          <p:cNvPr id="6" name="Right Arrow 5"/>
          <p:cNvSpPr/>
          <p:nvPr/>
        </p:nvSpPr>
        <p:spPr>
          <a:xfrm>
            <a:off x="2487168" y="2350008"/>
            <a:ext cx="777240" cy="411480"/>
          </a:xfrm>
          <a:prstGeom prst="rightArrow">
            <a:avLst/>
          </a:prstGeom>
          <a:solidFill>
            <a:srgbClr val="F5A62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Rounded Rectangle 6"/>
          <p:cNvSpPr/>
          <p:nvPr/>
        </p:nvSpPr>
        <p:spPr>
          <a:xfrm>
            <a:off x="2743200" y="2103120"/>
            <a:ext cx="1645920" cy="914400"/>
          </a:xfrm>
          <a:prstGeom prst="roundRect">
            <a:avLst/>
          </a:prstGeom>
          <a:solidFill>
            <a:srgbClr val="FFFFFF"/>
          </a:solidFill>
          <a:ln>
            <a:solidFill>
              <a:srgbClr val="0096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300" b="1">
                <a:solidFill>
                  <a:srgbClr val="14223D"/>
                </a:solidFill>
                <a:latin typeface="Aptos"/>
              </a:rPr>
              <a:t>MEAL SELECTION</a:t>
            </a:r>
          </a:p>
        </p:txBody>
      </p:sp>
      <p:sp>
        <p:nvSpPr>
          <p:cNvPr id="8" name="Right Arrow 7"/>
          <p:cNvSpPr/>
          <p:nvPr/>
        </p:nvSpPr>
        <p:spPr>
          <a:xfrm>
            <a:off x="4407408" y="2350008"/>
            <a:ext cx="777240" cy="411480"/>
          </a:xfrm>
          <a:prstGeom prst="rightArrow">
            <a:avLst/>
          </a:prstGeom>
          <a:solidFill>
            <a:srgbClr val="F5A62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Rounded Rectangle 8"/>
          <p:cNvSpPr/>
          <p:nvPr/>
        </p:nvSpPr>
        <p:spPr>
          <a:xfrm>
            <a:off x="4663440" y="2103120"/>
            <a:ext cx="1645920" cy="914400"/>
          </a:xfrm>
          <a:prstGeom prst="roundRect">
            <a:avLst/>
          </a:prstGeom>
          <a:solidFill>
            <a:srgbClr val="FFFFFF"/>
          </a:solidFill>
          <a:ln>
            <a:solidFill>
              <a:srgbClr val="0096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300" b="1">
                <a:solidFill>
                  <a:srgbClr val="14223D"/>
                </a:solidFill>
                <a:latin typeface="Aptos"/>
              </a:rPr>
              <a:t>COST CALCULATION</a:t>
            </a:r>
          </a:p>
        </p:txBody>
      </p:sp>
      <p:sp>
        <p:nvSpPr>
          <p:cNvPr id="10" name="Right Arrow 9"/>
          <p:cNvSpPr/>
          <p:nvPr/>
        </p:nvSpPr>
        <p:spPr>
          <a:xfrm>
            <a:off x="6327648" y="2350008"/>
            <a:ext cx="777240" cy="411480"/>
          </a:xfrm>
          <a:prstGeom prst="rightArrow">
            <a:avLst/>
          </a:prstGeom>
          <a:solidFill>
            <a:srgbClr val="F5A62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Rounded Rectangle 10"/>
          <p:cNvSpPr/>
          <p:nvPr/>
        </p:nvSpPr>
        <p:spPr>
          <a:xfrm>
            <a:off x="6858000" y="2103120"/>
            <a:ext cx="1645920" cy="914400"/>
          </a:xfrm>
          <a:prstGeom prst="roundRect">
            <a:avLst/>
          </a:prstGeom>
          <a:solidFill>
            <a:srgbClr val="FFFFFF"/>
          </a:solidFill>
          <a:ln>
            <a:solidFill>
              <a:srgbClr val="0096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300" b="1">
                <a:solidFill>
                  <a:srgbClr val="14223D"/>
                </a:solidFill>
                <a:latin typeface="Aptos"/>
              </a:rPr>
              <a:t>GROCERY CHECK</a:t>
            </a:r>
          </a:p>
        </p:txBody>
      </p:sp>
      <p:sp>
        <p:nvSpPr>
          <p:cNvPr id="12" name="Right Arrow 11"/>
          <p:cNvSpPr/>
          <p:nvPr/>
        </p:nvSpPr>
        <p:spPr>
          <a:xfrm>
            <a:off x="8522208" y="2350008"/>
            <a:ext cx="777240" cy="411480"/>
          </a:xfrm>
          <a:prstGeom prst="rightArrow">
            <a:avLst/>
          </a:prstGeom>
          <a:solidFill>
            <a:srgbClr val="F5A62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Rounded Rectangle 12"/>
          <p:cNvSpPr/>
          <p:nvPr/>
        </p:nvSpPr>
        <p:spPr>
          <a:xfrm>
            <a:off x="9144000" y="2103120"/>
            <a:ext cx="1645920" cy="914400"/>
          </a:xfrm>
          <a:prstGeom prst="roundRect">
            <a:avLst/>
          </a:prstGeom>
          <a:solidFill>
            <a:srgbClr val="FFFFFF"/>
          </a:solidFill>
          <a:ln>
            <a:solidFill>
              <a:srgbClr val="0096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300" b="1">
                <a:solidFill>
                  <a:srgbClr val="14223D"/>
                </a:solidFill>
                <a:latin typeface="Aptos"/>
              </a:rPr>
              <a:t>FINAL OUTPUT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2103120" y="3886200"/>
            <a:ext cx="8046720" cy="1417320"/>
          </a:xfrm>
          <a:prstGeom prst="roundRect">
            <a:avLst/>
          </a:prstGeom>
          <a:solidFill>
            <a:srgbClr val="FFFFFF"/>
          </a:solidFill>
          <a:ln>
            <a:solidFill>
              <a:srgbClr val="DCE4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Rectangle 14"/>
          <p:cNvSpPr/>
          <p:nvPr/>
        </p:nvSpPr>
        <p:spPr>
          <a:xfrm>
            <a:off x="2103120" y="3886200"/>
            <a:ext cx="73152" cy="1417320"/>
          </a:xfrm>
          <a:prstGeom prst="rect">
            <a:avLst/>
          </a:prstGeom>
          <a:solidFill>
            <a:srgbClr val="0096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2331720" y="4050791"/>
            <a:ext cx="763524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800" b="1">
                <a:solidFill>
                  <a:srgbClr val="14223D"/>
                </a:solidFill>
                <a:latin typeface="Aptos Display"/>
              </a:rPr>
              <a:t>Core Data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331720" y="4526280"/>
            <a:ext cx="76352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>
                <a:solidFill>
                  <a:srgbClr val="232B34"/>
                </a:solidFill>
                <a:latin typeface="Aptos"/>
              </a:rPr>
              <a:t>days[] stores the week • items[] stores grocery items • total stores estimated cost • choice selects the meal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94360" y="6473952"/>
            <a:ext cx="109728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800">
                <a:solidFill>
                  <a:srgbClr val="697480"/>
                </a:solidFill>
                <a:latin typeface="Aptos"/>
              </a:rPr>
              <a:t>CS &amp; IT  |  Weekly Meal Planner &amp; Grocery Generator  |  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2F8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94360" y="320040"/>
            <a:ext cx="10972800" cy="5943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800" b="1">
                <a:solidFill>
                  <a:srgbClr val="14223D"/>
                </a:solidFill>
                <a:latin typeface="Aptos Display"/>
              </a:rPr>
              <a:t>7. Functionalities</a:t>
            </a:r>
          </a:p>
        </p:txBody>
      </p:sp>
      <p:sp>
        <p:nvSpPr>
          <p:cNvPr id="4" name="Rectangle 3"/>
          <p:cNvSpPr/>
          <p:nvPr/>
        </p:nvSpPr>
        <p:spPr>
          <a:xfrm>
            <a:off x="594360" y="1170432"/>
            <a:ext cx="10972800" cy="45720"/>
          </a:xfrm>
          <a:prstGeom prst="rect">
            <a:avLst/>
          </a:prstGeom>
          <a:solidFill>
            <a:srgbClr val="0096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Rounded Rectangle 4"/>
          <p:cNvSpPr/>
          <p:nvPr/>
        </p:nvSpPr>
        <p:spPr>
          <a:xfrm>
            <a:off x="685800" y="1417320"/>
            <a:ext cx="5257800" cy="1325880"/>
          </a:xfrm>
          <a:prstGeom prst="roundRect">
            <a:avLst/>
          </a:prstGeom>
          <a:solidFill>
            <a:srgbClr val="FFFFFF"/>
          </a:solidFill>
          <a:ln>
            <a:solidFill>
              <a:srgbClr val="DCE4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Rectangle 5"/>
          <p:cNvSpPr/>
          <p:nvPr/>
        </p:nvSpPr>
        <p:spPr>
          <a:xfrm>
            <a:off x="685800" y="1417320"/>
            <a:ext cx="73152" cy="1325880"/>
          </a:xfrm>
          <a:prstGeom prst="rect">
            <a:avLst/>
          </a:prstGeom>
          <a:solidFill>
            <a:srgbClr val="0096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914400" y="1581912"/>
            <a:ext cx="48463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800" b="1">
                <a:solidFill>
                  <a:srgbClr val="14223D"/>
                </a:solidFill>
                <a:latin typeface="Aptos Display"/>
              </a:rPr>
              <a:t>7-Day Planner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2057400"/>
            <a:ext cx="48463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>
                <a:solidFill>
                  <a:srgbClr val="232B34"/>
                </a:solidFill>
                <a:latin typeface="Aptos"/>
              </a:rPr>
              <a:t>Processes Monday–Sunday using a while loop.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17920" y="1417320"/>
            <a:ext cx="5257800" cy="1325880"/>
          </a:xfrm>
          <a:prstGeom prst="roundRect">
            <a:avLst/>
          </a:prstGeom>
          <a:solidFill>
            <a:srgbClr val="FFFFFF"/>
          </a:solidFill>
          <a:ln>
            <a:solidFill>
              <a:srgbClr val="DCE4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Rectangle 9"/>
          <p:cNvSpPr/>
          <p:nvPr/>
        </p:nvSpPr>
        <p:spPr>
          <a:xfrm>
            <a:off x="6217920" y="1417320"/>
            <a:ext cx="73152" cy="1325880"/>
          </a:xfrm>
          <a:prstGeom prst="rect">
            <a:avLst/>
          </a:prstGeom>
          <a:solidFill>
            <a:srgbClr val="F5A62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6446520" y="1581912"/>
            <a:ext cx="48463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800" b="1">
                <a:solidFill>
                  <a:srgbClr val="14223D"/>
                </a:solidFill>
                <a:latin typeface="Aptos Display"/>
              </a:rPr>
              <a:t>Meal Selection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46520" y="2057400"/>
            <a:ext cx="48463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>
                <a:solidFill>
                  <a:srgbClr val="232B34"/>
                </a:solidFill>
                <a:latin typeface="Aptos"/>
              </a:rPr>
              <a:t>Switch statement offers 3 meal choices.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85800" y="3017520"/>
            <a:ext cx="5257800" cy="1325880"/>
          </a:xfrm>
          <a:prstGeom prst="roundRect">
            <a:avLst/>
          </a:prstGeom>
          <a:solidFill>
            <a:srgbClr val="FFFFFF"/>
          </a:solidFill>
          <a:ln>
            <a:solidFill>
              <a:srgbClr val="DCE4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Rectangle 13"/>
          <p:cNvSpPr/>
          <p:nvPr/>
        </p:nvSpPr>
        <p:spPr>
          <a:xfrm>
            <a:off x="685800" y="3017520"/>
            <a:ext cx="73152" cy="1325880"/>
          </a:xfrm>
          <a:prstGeom prst="rect">
            <a:avLst/>
          </a:prstGeom>
          <a:solidFill>
            <a:srgbClr val="2891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914400" y="3182112"/>
            <a:ext cx="48463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800" b="1">
                <a:solidFill>
                  <a:srgbClr val="14223D"/>
                </a:solidFill>
                <a:latin typeface="Aptos Display"/>
              </a:rPr>
              <a:t>Cost Estimation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14400" y="3657600"/>
            <a:ext cx="48463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>
                <a:solidFill>
                  <a:srgbClr val="232B34"/>
                </a:solidFill>
                <a:latin typeface="Aptos"/>
              </a:rPr>
              <a:t>Adds ₹40 / ₹120 / ₹100 based on selected meal.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217920" y="3017520"/>
            <a:ext cx="5257800" cy="1325880"/>
          </a:xfrm>
          <a:prstGeom prst="roundRect">
            <a:avLst/>
          </a:prstGeom>
          <a:solidFill>
            <a:srgbClr val="FFFFFF"/>
          </a:solidFill>
          <a:ln>
            <a:solidFill>
              <a:srgbClr val="DCE4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Rectangle 17"/>
          <p:cNvSpPr/>
          <p:nvPr/>
        </p:nvSpPr>
        <p:spPr>
          <a:xfrm>
            <a:off x="6217920" y="3017520"/>
            <a:ext cx="73152" cy="1325880"/>
          </a:xfrm>
          <a:prstGeom prst="rect">
            <a:avLst/>
          </a:prstGeom>
          <a:solidFill>
            <a:srgbClr val="0096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6446520" y="3182112"/>
            <a:ext cx="48463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800" b="1">
                <a:solidFill>
                  <a:srgbClr val="14223D"/>
                </a:solidFill>
                <a:latin typeface="Aptos Display"/>
              </a:rPr>
              <a:t>Grocery Check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446520" y="3657600"/>
            <a:ext cx="48463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>
                <a:solidFill>
                  <a:srgbClr val="232B34"/>
                </a:solidFill>
                <a:latin typeface="Aptos"/>
              </a:rPr>
              <a:t>Checks Rice, Chicken, Vegetables and Oil.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85800" y="4617720"/>
            <a:ext cx="5257800" cy="1325880"/>
          </a:xfrm>
          <a:prstGeom prst="roundRect">
            <a:avLst/>
          </a:prstGeom>
          <a:solidFill>
            <a:srgbClr val="FFFFFF"/>
          </a:solidFill>
          <a:ln>
            <a:solidFill>
              <a:srgbClr val="DCE4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Rectangle 21"/>
          <p:cNvSpPr/>
          <p:nvPr/>
        </p:nvSpPr>
        <p:spPr>
          <a:xfrm>
            <a:off x="685800" y="4617720"/>
            <a:ext cx="73152" cy="1325880"/>
          </a:xfrm>
          <a:prstGeom prst="rect">
            <a:avLst/>
          </a:prstGeom>
          <a:solidFill>
            <a:srgbClr val="F5A62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TextBox 22"/>
          <p:cNvSpPr txBox="1"/>
          <p:nvPr/>
        </p:nvSpPr>
        <p:spPr>
          <a:xfrm>
            <a:off x="914400" y="4782312"/>
            <a:ext cx="48463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800" b="1">
                <a:solidFill>
                  <a:srgbClr val="14223D"/>
                </a:solidFill>
                <a:latin typeface="Aptos Display"/>
              </a:rPr>
              <a:t>Missing Items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14400" y="5257800"/>
            <a:ext cx="48463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>
                <a:solidFill>
                  <a:srgbClr val="232B34"/>
                </a:solidFill>
                <a:latin typeface="Aptos"/>
              </a:rPr>
              <a:t>If answer is “no”, prints Buy &lt;item&gt;.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6217920" y="4617720"/>
            <a:ext cx="5257800" cy="1325880"/>
          </a:xfrm>
          <a:prstGeom prst="roundRect">
            <a:avLst/>
          </a:prstGeom>
          <a:solidFill>
            <a:srgbClr val="FFFFFF"/>
          </a:solidFill>
          <a:ln>
            <a:solidFill>
              <a:srgbClr val="DCE4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" name="Rectangle 25"/>
          <p:cNvSpPr/>
          <p:nvPr/>
        </p:nvSpPr>
        <p:spPr>
          <a:xfrm>
            <a:off x="6217920" y="4617720"/>
            <a:ext cx="73152" cy="1325880"/>
          </a:xfrm>
          <a:prstGeom prst="rect">
            <a:avLst/>
          </a:prstGeom>
          <a:solidFill>
            <a:srgbClr val="2891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" name="TextBox 26"/>
          <p:cNvSpPr txBox="1"/>
          <p:nvPr/>
        </p:nvSpPr>
        <p:spPr>
          <a:xfrm>
            <a:off x="6446520" y="4782312"/>
            <a:ext cx="48463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800" b="1">
                <a:solidFill>
                  <a:srgbClr val="14223D"/>
                </a:solidFill>
                <a:latin typeface="Aptos Display"/>
              </a:rPr>
              <a:t>Final Output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446520" y="5257800"/>
            <a:ext cx="48463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>
                <a:solidFill>
                  <a:srgbClr val="232B34"/>
                </a:solidFill>
                <a:latin typeface="Aptos"/>
              </a:rPr>
              <a:t>Displays the estimated weekly cost.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594360" y="6473952"/>
            <a:ext cx="109728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800">
                <a:solidFill>
                  <a:srgbClr val="697480"/>
                </a:solidFill>
                <a:latin typeface="Aptos"/>
              </a:rPr>
              <a:t>CS &amp; IT  |  Weekly Meal Planner &amp; Grocery Generator  |  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2F8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94360" y="320040"/>
            <a:ext cx="10972800" cy="5943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800" b="1">
                <a:solidFill>
                  <a:srgbClr val="14223D"/>
                </a:solidFill>
                <a:latin typeface="Aptos Display"/>
              </a:rPr>
              <a:t>8. Implementation – Java Code Screenshots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21792" y="896112"/>
            <a:ext cx="1078992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200">
                <a:solidFill>
                  <a:srgbClr val="697480"/>
                </a:solidFill>
                <a:latin typeface="Aptos"/>
              </a:rPr>
              <a:t>Place your first two code screenshots in the marked areas.</a:t>
            </a:r>
          </a:p>
        </p:txBody>
      </p:sp>
      <p:sp>
        <p:nvSpPr>
          <p:cNvPr id="5" name="Rectangle 4"/>
          <p:cNvSpPr/>
          <p:nvPr/>
        </p:nvSpPr>
        <p:spPr>
          <a:xfrm>
            <a:off x="594360" y="1170432"/>
            <a:ext cx="10972800" cy="45720"/>
          </a:xfrm>
          <a:prstGeom prst="rect">
            <a:avLst/>
          </a:prstGeom>
          <a:solidFill>
            <a:srgbClr val="0096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Rounded Rectangle 5"/>
          <p:cNvSpPr/>
          <p:nvPr/>
        </p:nvSpPr>
        <p:spPr>
          <a:xfrm>
            <a:off x="640080" y="1417320"/>
            <a:ext cx="5394960" cy="4480560"/>
          </a:xfrm>
          <a:prstGeom prst="roundRect">
            <a:avLst/>
          </a:prstGeom>
          <a:solidFill>
            <a:srgbClr val="FFFFFF"/>
          </a:solidFill>
          <a:ln>
            <a:solidFill>
              <a:srgbClr val="0096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822959" y="1600200"/>
            <a:ext cx="50292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600" b="1">
                <a:solidFill>
                  <a:srgbClr val="697480"/>
                </a:solidFill>
              </a:rPr>
              <a:t>PROGRAM SCREENSHOT 1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172200" y="1417320"/>
            <a:ext cx="5394960" cy="4480560"/>
          </a:xfrm>
          <a:prstGeom prst="roundRect">
            <a:avLst/>
          </a:prstGeom>
          <a:solidFill>
            <a:srgbClr val="FFFFFF"/>
          </a:solidFill>
          <a:ln>
            <a:solidFill>
              <a:srgbClr val="0096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6355080" y="1600200"/>
            <a:ext cx="50292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600" b="1">
                <a:solidFill>
                  <a:srgbClr val="697480"/>
                </a:solidFill>
              </a:rPr>
              <a:t>PROGRAM SCREENSHOT 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94360" y="6473952"/>
            <a:ext cx="109728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800">
                <a:solidFill>
                  <a:srgbClr val="697480"/>
                </a:solidFill>
                <a:latin typeface="Aptos"/>
              </a:rPr>
              <a:t>CS &amp; IT  |  Weekly Meal Planner &amp; Grocery Generator  |  9</a:t>
            </a:r>
          </a:p>
        </p:txBody>
      </p:sp>
      <p:pic>
        <p:nvPicPr>
          <p:cNvPr id="16" name="Picture 15">
            <a:extLst>
              <a:ext uri="{FF2B5EF4-FFF2-40B4-BE49-F238E27FC236}">
                <a16:creationId xmlns:a16="http://schemas.microsoft.com/office/drawing/2014/main" id="{393761E1-7301-6FBA-986E-8D2147E5594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7492" y="2146329"/>
            <a:ext cx="5214457" cy="3111472"/>
          </a:xfrm>
          <a:prstGeom prst="rect">
            <a:avLst/>
          </a:prstGeom>
        </p:spPr>
      </p:pic>
      <p:pic>
        <p:nvPicPr>
          <p:cNvPr id="18" name="Picture 17">
            <a:extLst>
              <a:ext uri="{FF2B5EF4-FFF2-40B4-BE49-F238E27FC236}">
                <a16:creationId xmlns:a16="http://schemas.microsoft.com/office/drawing/2014/main" id="{88AAF2FC-36D5-F47D-7991-F8B2ACBEC03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24190" y="2057400"/>
            <a:ext cx="5087830" cy="3337560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2F8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94360" y="320040"/>
            <a:ext cx="10972800" cy="5943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800" b="1">
                <a:solidFill>
                  <a:srgbClr val="14223D"/>
                </a:solidFill>
                <a:latin typeface="Aptos Display"/>
              </a:rPr>
              <a:t>8. Implementation – Java Code Screenshots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21792" y="896112"/>
            <a:ext cx="1078992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200">
                <a:solidFill>
                  <a:srgbClr val="697480"/>
                </a:solidFill>
                <a:latin typeface="Aptos"/>
              </a:rPr>
              <a:t>Place your remaining two code screenshots in the marked areas.</a:t>
            </a:r>
          </a:p>
        </p:txBody>
      </p:sp>
      <p:sp>
        <p:nvSpPr>
          <p:cNvPr id="5" name="Rectangle 4"/>
          <p:cNvSpPr/>
          <p:nvPr/>
        </p:nvSpPr>
        <p:spPr>
          <a:xfrm>
            <a:off x="594360" y="1170432"/>
            <a:ext cx="10972800" cy="45720"/>
          </a:xfrm>
          <a:prstGeom prst="rect">
            <a:avLst/>
          </a:prstGeom>
          <a:solidFill>
            <a:srgbClr val="0096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Rounded Rectangle 5"/>
          <p:cNvSpPr/>
          <p:nvPr/>
        </p:nvSpPr>
        <p:spPr>
          <a:xfrm>
            <a:off x="640080" y="1417320"/>
            <a:ext cx="5394960" cy="4480560"/>
          </a:xfrm>
          <a:prstGeom prst="roundRect">
            <a:avLst/>
          </a:prstGeom>
          <a:solidFill>
            <a:srgbClr val="FFFFFF"/>
          </a:solidFill>
          <a:ln>
            <a:solidFill>
              <a:srgbClr val="0096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822959" y="1600200"/>
            <a:ext cx="50292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600" b="1">
                <a:solidFill>
                  <a:srgbClr val="697480"/>
                </a:solidFill>
              </a:rPr>
              <a:t>PROGRAM SCREENSHOT 3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172200" y="1417320"/>
            <a:ext cx="5394960" cy="4480560"/>
          </a:xfrm>
          <a:prstGeom prst="roundRect">
            <a:avLst/>
          </a:prstGeom>
          <a:solidFill>
            <a:srgbClr val="FFFFFF"/>
          </a:solidFill>
          <a:ln>
            <a:solidFill>
              <a:srgbClr val="0096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6355080" y="1600200"/>
            <a:ext cx="50292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600" b="1">
                <a:solidFill>
                  <a:srgbClr val="697480"/>
                </a:solidFill>
              </a:rPr>
              <a:t>PROGRAM SCREENSHOT 4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94360" y="6473952"/>
            <a:ext cx="109728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800">
                <a:solidFill>
                  <a:srgbClr val="697480"/>
                </a:solidFill>
                <a:latin typeface="Aptos"/>
              </a:rPr>
              <a:t>CS &amp; IT  |  Weekly Meal Planner &amp; Grocery Generator  |  10</a:t>
            </a:r>
          </a:p>
        </p:txBody>
      </p:sp>
      <p:pic>
        <p:nvPicPr>
          <p:cNvPr id="12" name="Picture 11">
            <a:extLst>
              <a:ext uri="{FF2B5EF4-FFF2-40B4-BE49-F238E27FC236}">
                <a16:creationId xmlns:a16="http://schemas.microsoft.com/office/drawing/2014/main" id="{87E15B15-070A-6A08-C409-EB91A0F8F0D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2959" y="2153265"/>
            <a:ext cx="4947928" cy="3185652"/>
          </a:xfrm>
          <a:prstGeom prst="rect">
            <a:avLst/>
          </a:prstGeom>
        </p:spPr>
      </p:pic>
      <p:pic>
        <p:nvPicPr>
          <p:cNvPr id="14" name="Picture 13">
            <a:extLst>
              <a:ext uri="{FF2B5EF4-FFF2-40B4-BE49-F238E27FC236}">
                <a16:creationId xmlns:a16="http://schemas.microsoft.com/office/drawing/2014/main" id="{B71D18B8-598D-D5E3-B7BC-ED727F802EF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17919" y="2587746"/>
            <a:ext cx="5211284" cy="2212855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2F8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94360" y="320040"/>
            <a:ext cx="10972800" cy="5943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800" b="1">
                <a:solidFill>
                  <a:srgbClr val="14223D"/>
                </a:solidFill>
                <a:latin typeface="Aptos Display"/>
              </a:rPr>
              <a:t>9. Output Screenshots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21792" y="896112"/>
            <a:ext cx="1078992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200">
                <a:solidFill>
                  <a:srgbClr val="697480"/>
                </a:solidFill>
                <a:latin typeface="Aptos"/>
              </a:rPr>
              <a:t>Output screenshots 1–4 • Replace the placeholders with your actual console outputs.</a:t>
            </a:r>
          </a:p>
        </p:txBody>
      </p:sp>
      <p:sp>
        <p:nvSpPr>
          <p:cNvPr id="5" name="Rectangle 4"/>
          <p:cNvSpPr/>
          <p:nvPr/>
        </p:nvSpPr>
        <p:spPr>
          <a:xfrm>
            <a:off x="594360" y="1170432"/>
            <a:ext cx="10972800" cy="45720"/>
          </a:xfrm>
          <a:prstGeom prst="rect">
            <a:avLst/>
          </a:prstGeom>
          <a:solidFill>
            <a:srgbClr val="0096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Rounded Rectangle 5"/>
          <p:cNvSpPr/>
          <p:nvPr/>
        </p:nvSpPr>
        <p:spPr>
          <a:xfrm>
            <a:off x="594360" y="1417320"/>
            <a:ext cx="5486400" cy="2148840"/>
          </a:xfrm>
          <a:prstGeom prst="roundRect">
            <a:avLst/>
          </a:prstGeom>
          <a:solidFill>
            <a:srgbClr val="FFFFFF"/>
          </a:solidFill>
          <a:ln>
            <a:solidFill>
              <a:srgbClr val="F5A62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731520" y="1554480"/>
            <a:ext cx="521208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400" b="1">
                <a:solidFill>
                  <a:srgbClr val="697480"/>
                </a:solidFill>
              </a:rPr>
              <a:t>OUTPUT SCREENSHOT 1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126480" y="1417320"/>
            <a:ext cx="5486400" cy="2148840"/>
          </a:xfrm>
          <a:prstGeom prst="roundRect">
            <a:avLst/>
          </a:prstGeom>
          <a:solidFill>
            <a:srgbClr val="FFFFFF"/>
          </a:solidFill>
          <a:ln>
            <a:solidFill>
              <a:srgbClr val="F5A62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6263640" y="1554480"/>
            <a:ext cx="521208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400" b="1">
                <a:solidFill>
                  <a:srgbClr val="697480"/>
                </a:solidFill>
              </a:rPr>
              <a:t>OUTPUT SCREENSHOT 2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94360" y="3794760"/>
            <a:ext cx="5486400" cy="2148840"/>
          </a:xfrm>
          <a:prstGeom prst="roundRect">
            <a:avLst/>
          </a:prstGeom>
          <a:solidFill>
            <a:srgbClr val="FFFFFF"/>
          </a:solidFill>
          <a:ln>
            <a:solidFill>
              <a:srgbClr val="F5A62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731520" y="3931920"/>
            <a:ext cx="521208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400" b="1">
                <a:solidFill>
                  <a:srgbClr val="697480"/>
                </a:solidFill>
              </a:rPr>
              <a:t>OUTPUT SCREENSHOT 3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126480" y="3794760"/>
            <a:ext cx="5486400" cy="2148840"/>
          </a:xfrm>
          <a:prstGeom prst="roundRect">
            <a:avLst/>
          </a:prstGeom>
          <a:solidFill>
            <a:srgbClr val="FFFFFF"/>
          </a:solidFill>
          <a:ln>
            <a:solidFill>
              <a:srgbClr val="F5A62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6263640" y="3931920"/>
            <a:ext cx="521208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400" b="1" dirty="0">
                <a:solidFill>
                  <a:srgbClr val="697480"/>
                </a:solidFill>
              </a:rPr>
              <a:t>OUTPUT SCREENSHOT 4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94360" y="6473952"/>
            <a:ext cx="109728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800">
                <a:solidFill>
                  <a:srgbClr val="697480"/>
                </a:solidFill>
                <a:latin typeface="Aptos"/>
              </a:rPr>
              <a:t>CS &amp; IT  |  Weekly Meal Planner &amp; Grocery Generator  |  12</a:t>
            </a:r>
          </a:p>
        </p:txBody>
      </p:sp>
      <p:pic>
        <p:nvPicPr>
          <p:cNvPr id="24" name="Picture 23">
            <a:extLst>
              <a:ext uri="{FF2B5EF4-FFF2-40B4-BE49-F238E27FC236}">
                <a16:creationId xmlns:a16="http://schemas.microsoft.com/office/drawing/2014/main" id="{544685AF-22E1-3D55-C505-03A972D7FCC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28164" y="1825801"/>
            <a:ext cx="4763729" cy="1603199"/>
          </a:xfrm>
          <a:prstGeom prst="rect">
            <a:avLst/>
          </a:prstGeom>
        </p:spPr>
      </p:pic>
      <p:pic>
        <p:nvPicPr>
          <p:cNvPr id="26" name="Picture 25">
            <a:extLst>
              <a:ext uri="{FF2B5EF4-FFF2-40B4-BE49-F238E27FC236}">
                <a16:creationId xmlns:a16="http://schemas.microsoft.com/office/drawing/2014/main" id="{35FA475A-C50E-0E98-2CBA-FD806D1DBAB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85343" y="1900420"/>
            <a:ext cx="4968671" cy="1501270"/>
          </a:xfrm>
          <a:prstGeom prst="rect">
            <a:avLst/>
          </a:prstGeom>
        </p:spPr>
      </p:pic>
      <p:pic>
        <p:nvPicPr>
          <p:cNvPr id="28" name="Picture 27">
            <a:extLst>
              <a:ext uri="{FF2B5EF4-FFF2-40B4-BE49-F238E27FC236}">
                <a16:creationId xmlns:a16="http://schemas.microsoft.com/office/drawing/2014/main" id="{77BA55B6-9581-B0B3-4D65-F3AC5C40EE56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56929" y="4328151"/>
            <a:ext cx="4944103" cy="1272650"/>
          </a:xfrm>
          <a:prstGeom prst="rect">
            <a:avLst/>
          </a:prstGeom>
        </p:spPr>
      </p:pic>
      <p:pic>
        <p:nvPicPr>
          <p:cNvPr id="30" name="Picture 29">
            <a:extLst>
              <a:ext uri="{FF2B5EF4-FFF2-40B4-BE49-F238E27FC236}">
                <a16:creationId xmlns:a16="http://schemas.microsoft.com/office/drawing/2014/main" id="{699A24C2-0015-79B2-7B81-3764CE733F04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385343" y="4244323"/>
            <a:ext cx="4732430" cy="1356478"/>
          </a:xfrm>
          <a:prstGeom prst="rect">
            <a:avLst/>
          </a:prstGeom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30632" y="0"/>
            <a:ext cx="12191695" cy="6858000"/>
          </a:xfrm>
          <a:prstGeom prst="rect">
            <a:avLst/>
          </a:prstGeom>
          <a:solidFill>
            <a:srgbClr val="F2F8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457200" y="381737"/>
            <a:ext cx="10972800" cy="5943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800" b="1">
                <a:solidFill>
                  <a:srgbClr val="14223D"/>
                </a:solidFill>
                <a:latin typeface="Aptos Display"/>
              </a:rPr>
              <a:t>9. Output Screenshots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21792" y="896112"/>
            <a:ext cx="1078992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200">
                <a:solidFill>
                  <a:srgbClr val="697480"/>
                </a:solidFill>
                <a:latin typeface="Aptos"/>
              </a:rPr>
              <a:t>Output screenshots 5–8 • Replace the placeholders with your actual console outputs.</a:t>
            </a:r>
          </a:p>
        </p:txBody>
      </p:sp>
      <p:sp>
        <p:nvSpPr>
          <p:cNvPr id="5" name="Rectangle 4"/>
          <p:cNvSpPr/>
          <p:nvPr/>
        </p:nvSpPr>
        <p:spPr>
          <a:xfrm>
            <a:off x="594360" y="1170432"/>
            <a:ext cx="10972800" cy="45720"/>
          </a:xfrm>
          <a:prstGeom prst="rect">
            <a:avLst/>
          </a:prstGeom>
          <a:solidFill>
            <a:srgbClr val="0096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Rounded Rectangle 5"/>
          <p:cNvSpPr/>
          <p:nvPr/>
        </p:nvSpPr>
        <p:spPr>
          <a:xfrm>
            <a:off x="502920" y="1344168"/>
            <a:ext cx="5486400" cy="2148840"/>
          </a:xfrm>
          <a:prstGeom prst="roundRect">
            <a:avLst/>
          </a:prstGeom>
          <a:solidFill>
            <a:srgbClr val="FFFFFF"/>
          </a:solidFill>
          <a:ln>
            <a:solidFill>
              <a:srgbClr val="F5A62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731520" y="1554480"/>
            <a:ext cx="521208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400" b="1" dirty="0">
                <a:solidFill>
                  <a:srgbClr val="697480"/>
                </a:solidFill>
              </a:rPr>
              <a:t>OUTPUT SCREENSHOT 5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126480" y="1417320"/>
            <a:ext cx="5486400" cy="2148840"/>
          </a:xfrm>
          <a:prstGeom prst="roundRect">
            <a:avLst/>
          </a:prstGeom>
          <a:solidFill>
            <a:srgbClr val="FFFFFF"/>
          </a:solidFill>
          <a:ln>
            <a:solidFill>
              <a:srgbClr val="F5A62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6263640" y="1554480"/>
            <a:ext cx="521208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400" b="1">
                <a:solidFill>
                  <a:srgbClr val="697480"/>
                </a:solidFill>
              </a:rPr>
              <a:t>OUTPUT SCREENSHOT 6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94360" y="3794760"/>
            <a:ext cx="5486400" cy="2148840"/>
          </a:xfrm>
          <a:prstGeom prst="roundRect">
            <a:avLst/>
          </a:prstGeom>
          <a:solidFill>
            <a:srgbClr val="FFFFFF"/>
          </a:solidFill>
          <a:ln>
            <a:solidFill>
              <a:srgbClr val="F5A62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731520" y="3931920"/>
            <a:ext cx="521208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400" b="1">
                <a:solidFill>
                  <a:srgbClr val="697480"/>
                </a:solidFill>
              </a:rPr>
              <a:t>OUTPUT SCREENSHOT 7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126480" y="3794760"/>
            <a:ext cx="5486400" cy="2148840"/>
          </a:xfrm>
          <a:prstGeom prst="roundRect">
            <a:avLst/>
          </a:prstGeom>
          <a:solidFill>
            <a:srgbClr val="FFFFFF"/>
          </a:solidFill>
          <a:ln>
            <a:solidFill>
              <a:srgbClr val="F5A62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6263640" y="3931920"/>
            <a:ext cx="521208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400" b="1">
                <a:solidFill>
                  <a:srgbClr val="697480"/>
                </a:solidFill>
              </a:rPr>
              <a:t>OUTPUT SCREENSHOT 8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94360" y="6473952"/>
            <a:ext cx="109728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800">
                <a:solidFill>
                  <a:srgbClr val="697480"/>
                </a:solidFill>
                <a:latin typeface="Aptos"/>
              </a:rPr>
              <a:t>CS &amp; IT  |  Weekly Meal Planner &amp; Grocery Generator  |  13</a:t>
            </a:r>
          </a:p>
        </p:txBody>
      </p:sp>
      <p:pic>
        <p:nvPicPr>
          <p:cNvPr id="26" name="Picture 25">
            <a:extLst>
              <a:ext uri="{FF2B5EF4-FFF2-40B4-BE49-F238E27FC236}">
                <a16:creationId xmlns:a16="http://schemas.microsoft.com/office/drawing/2014/main" id="{7FE320DA-A8C6-EEDF-6E37-C1B0C9BD544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15214" y="1952183"/>
            <a:ext cx="4061812" cy="1234547"/>
          </a:xfrm>
          <a:prstGeom prst="rect">
            <a:avLst/>
          </a:prstGeom>
        </p:spPr>
      </p:pic>
      <p:pic>
        <p:nvPicPr>
          <p:cNvPr id="28" name="Picture 27">
            <a:extLst>
              <a:ext uri="{FF2B5EF4-FFF2-40B4-BE49-F238E27FC236}">
                <a16:creationId xmlns:a16="http://schemas.microsoft.com/office/drawing/2014/main" id="{EFE9E9F0-3F73-8E74-1C75-20F0E0A9090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61608" y="1961751"/>
            <a:ext cx="4587638" cy="1181202"/>
          </a:xfrm>
          <a:prstGeom prst="rect">
            <a:avLst/>
          </a:prstGeom>
        </p:spPr>
      </p:pic>
      <p:pic>
        <p:nvPicPr>
          <p:cNvPr id="30" name="Picture 29">
            <a:extLst>
              <a:ext uri="{FF2B5EF4-FFF2-40B4-BE49-F238E27FC236}">
                <a16:creationId xmlns:a16="http://schemas.microsoft.com/office/drawing/2014/main" id="{560504EB-7C19-DA14-83EA-D08107B2B056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184723" y="4297680"/>
            <a:ext cx="4305673" cy="1303133"/>
          </a:xfrm>
          <a:prstGeom prst="rect">
            <a:avLst/>
          </a:prstGeom>
        </p:spPr>
      </p:pic>
      <p:pic>
        <p:nvPicPr>
          <p:cNvPr id="32" name="Picture 31">
            <a:extLst>
              <a:ext uri="{FF2B5EF4-FFF2-40B4-BE49-F238E27FC236}">
                <a16:creationId xmlns:a16="http://schemas.microsoft.com/office/drawing/2014/main" id="{82737415-0325-8A8E-8C32-F4F92566661F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423214" y="4270020"/>
            <a:ext cx="4824889" cy="1570342"/>
          </a:xfrm>
          <a:prstGeom prst="rect">
            <a:avLst/>
          </a:prstGeom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2F8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94360" y="320040"/>
            <a:ext cx="10972800" cy="5943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800" b="1">
                <a:solidFill>
                  <a:srgbClr val="14223D"/>
                </a:solidFill>
                <a:latin typeface="Aptos Display"/>
              </a:rPr>
              <a:t>10. Future Scope</a:t>
            </a:r>
          </a:p>
        </p:txBody>
      </p:sp>
      <p:sp>
        <p:nvSpPr>
          <p:cNvPr id="4" name="Rectangle 3"/>
          <p:cNvSpPr/>
          <p:nvPr/>
        </p:nvSpPr>
        <p:spPr>
          <a:xfrm>
            <a:off x="594360" y="1170432"/>
            <a:ext cx="10972800" cy="45720"/>
          </a:xfrm>
          <a:prstGeom prst="rect">
            <a:avLst/>
          </a:prstGeom>
          <a:solidFill>
            <a:srgbClr val="0096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777240" y="1508760"/>
            <a:ext cx="1051560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1900">
                <a:solidFill>
                  <a:srgbClr val="232B34"/>
                </a:solidFill>
                <a:latin typeface="Aptos"/>
              </a:defRPr>
            </a:pPr>
            <a:r>
              <a:t>Add more meal choices and allow users to enter custom meals.</a:t>
            </a:r>
          </a:p>
          <a:p>
            <a:pPr>
              <a:spcAft>
                <a:spcPts val="1200"/>
              </a:spcAft>
              <a:defRPr sz="1900">
                <a:solidFill>
                  <a:srgbClr val="232B34"/>
                </a:solidFill>
                <a:latin typeface="Aptos"/>
              </a:defRPr>
            </a:pPr>
            <a:r>
              <a:t>Store ingredient quantities and automatically combine repeated ingredients.</a:t>
            </a:r>
          </a:p>
          <a:p>
            <a:pPr>
              <a:spcAft>
                <a:spcPts val="1200"/>
              </a:spcAft>
              <a:defRPr sz="1900">
                <a:solidFill>
                  <a:srgbClr val="232B34"/>
                </a:solidFill>
                <a:latin typeface="Aptos"/>
              </a:defRPr>
            </a:pPr>
            <a:r>
              <a:t>Add a graphical user interface using Java Swing or JavaFX.</a:t>
            </a:r>
          </a:p>
          <a:p>
            <a:pPr>
              <a:spcAft>
                <a:spcPts val="1200"/>
              </a:spcAft>
              <a:defRPr sz="1900">
                <a:solidFill>
                  <a:srgbClr val="232B34"/>
                </a:solidFill>
                <a:latin typeface="Aptos"/>
              </a:defRPr>
            </a:pPr>
            <a:r>
              <a:t>Connect the application to a database for saved meal plans.</a:t>
            </a:r>
          </a:p>
          <a:p>
            <a:pPr>
              <a:spcAft>
                <a:spcPts val="1200"/>
              </a:spcAft>
              <a:defRPr sz="1900">
                <a:solidFill>
                  <a:srgbClr val="232B34"/>
                </a:solidFill>
                <a:latin typeface="Aptos"/>
              </a:defRPr>
            </a:pPr>
            <a:r>
              <a:t>Add nutrition, calorie and monthly budget tracking.</a:t>
            </a:r>
          </a:p>
          <a:p>
            <a:pPr>
              <a:spcAft>
                <a:spcPts val="1200"/>
              </a:spcAft>
              <a:defRPr sz="1900">
                <a:solidFill>
                  <a:srgbClr val="232B34"/>
                </a:solidFill>
                <a:latin typeface="Aptos"/>
              </a:defRPr>
            </a:pPr>
            <a:r>
              <a:t>Provide personalized meal recommendations.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4360" y="6473952"/>
            <a:ext cx="109728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800">
                <a:solidFill>
                  <a:srgbClr val="697480"/>
                </a:solidFill>
                <a:latin typeface="Aptos"/>
              </a:rPr>
              <a:t>CS &amp; IT  |  Weekly Meal Planner &amp; Grocery Generator  |  14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Background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2F8F7"/>
          </a:solidFill>
          <a:ln>
            <a:noFill/>
          </a:ln>
        </p:spPr>
      </p:sp>
      <p:sp>
        <p:nvSpPr>
          <p:cNvPr id="3" name="Slide title"/>
          <p:cNvSpPr txBox="1"/>
          <p:nvPr/>
        </p:nvSpPr>
        <p:spPr>
          <a:xfrm>
            <a:off x="594360" y="320040"/>
            <a:ext cx="10972800" cy="594360"/>
          </a:xfrm>
          <a:prstGeom prst="rect">
            <a:avLst/>
          </a:prstGeom>
          <a:noFill/>
          <a:ln>
            <a:noFill/>
          </a:ln>
        </p:spPr>
        <p:txBody>
          <a:bodyPr wrap="square" anchor="t">
            <a:spAutoFit/>
          </a:bodyPr>
          <a:lstStyle/>
          <a:p>
            <a:pPr algn="l">
              <a:spcAft>
                <a:spcPts val="500"/>
              </a:spcAft>
              <a:defRPr sz="2800" b="1">
                <a:solidFill>
                  <a:srgbClr val="14223D"/>
                </a:solidFill>
                <a:latin typeface="Aptos Display"/>
              </a:defRPr>
            </a:pPr>
            <a:r>
              <a:rPr sz="2800" b="1">
                <a:solidFill>
                  <a:srgbClr val="14223D"/>
                </a:solidFill>
                <a:latin typeface="Aptos Display"/>
              </a:rPr>
              <a:t>CO attainment: CO1–CO3</a:t>
            </a:r>
            <a:endParaRPr sz="2800"/>
          </a:p>
        </p:txBody>
      </p:sp>
      <p:sp>
        <p:nvSpPr>
          <p:cNvPr id="4" name="Teal accent"/>
          <p:cNvSpPr/>
          <p:nvPr/>
        </p:nvSpPr>
        <p:spPr>
          <a:xfrm>
            <a:off x="594360" y="1170432"/>
            <a:ext cx="10972800" cy="45720"/>
          </a:xfrm>
          <a:prstGeom prst="rect">
            <a:avLst/>
          </a:prstGeom>
          <a:solidFill>
            <a:srgbClr val="009688"/>
          </a:solidFill>
          <a:ln>
            <a:noFill/>
          </a:ln>
        </p:spPr>
      </p:sp>
      <p:sp>
        <p:nvSpPr>
          <p:cNvPr id="5" name="CO1 · From problem to program"/>
          <p:cNvSpPr txBox="1"/>
          <p:nvPr/>
        </p:nvSpPr>
        <p:spPr>
          <a:xfrm>
            <a:off x="777240" y="1463040"/>
            <a:ext cx="10972800" cy="560000"/>
          </a:xfrm>
          <a:prstGeom prst="rect">
            <a:avLst/>
          </a:prstGeom>
          <a:noFill/>
          <a:ln>
            <a:noFill/>
          </a:ln>
        </p:spPr>
        <p:txBody>
          <a:bodyPr wrap="square" anchor="t">
            <a:spAutoFit/>
          </a:bodyPr>
          <a:lstStyle/>
          <a:p>
            <a:pPr algn="l">
              <a:spcAft>
                <a:spcPts val="500"/>
              </a:spcAft>
              <a:defRPr sz="1800" b="1">
                <a:solidFill>
                  <a:srgbClr val="14223D"/>
                </a:solidFill>
                <a:latin typeface="Aptos"/>
              </a:defRPr>
            </a:pPr>
            <a:r>
              <a:rPr sz="1800" b="1">
                <a:solidFill>
                  <a:srgbClr val="14223D"/>
                </a:solidFill>
                <a:latin typeface="Aptos"/>
              </a:rPr>
              <a:t>CO1 · From problem to program</a:t>
            </a:r>
            <a:endParaRPr sz="1800"/>
          </a:p>
        </p:txBody>
      </p:sp>
      <p:sp>
        <p:nvSpPr>
          <p:cNvPr id="6" name="Details"/>
          <p:cNvSpPr txBox="1"/>
          <p:nvPr/>
        </p:nvSpPr>
        <p:spPr>
          <a:xfrm>
            <a:off x="777240" y="1983040"/>
            <a:ext cx="10972800" cy="638240"/>
          </a:xfrm>
          <a:prstGeom prst="rect">
            <a:avLst/>
          </a:prstGeom>
          <a:noFill/>
          <a:ln>
            <a:noFill/>
          </a:ln>
        </p:spPr>
        <p:txBody>
          <a:bodyPr wrap="square" anchor="t">
            <a:spAutoFit/>
          </a:bodyPr>
          <a:lstStyle/>
          <a:p>
            <a:pPr algn="l">
              <a:spcAft>
                <a:spcPts val="500"/>
              </a:spcAft>
              <a:defRPr sz="1550" b="0">
                <a:solidFill>
                  <a:srgbClr val="232B34"/>
                </a:solidFill>
                <a:latin typeface="Aptos"/>
              </a:defRPr>
            </a:pPr>
            <a:r>
              <a:rPr sz="1550" b="0">
                <a:solidFill>
                  <a:srgbClr val="232B34"/>
                </a:solidFill>
                <a:latin typeface="Aptos"/>
              </a:rPr>
              <a:t>• Rubric focus: algorithm, data types, expressions and I/O.</a:t>
            </a:r>
            <a:endParaRPr sz="1550"/>
          </a:p>
          <a:p>
            <a:pPr algn="l">
              <a:spcAft>
                <a:spcPts val="500"/>
              </a:spcAft>
              <a:defRPr sz="1550" b="0">
                <a:solidFill>
                  <a:srgbClr val="232B34"/>
                </a:solidFill>
                <a:latin typeface="Aptos"/>
              </a:defRPr>
            </a:pPr>
            <a:r>
              <a:rPr sz="1550" b="0">
                <a:solidFill>
                  <a:srgbClr val="232B34"/>
                </a:solidFill>
                <a:latin typeface="Aptos"/>
              </a:rPr>
              <a:t>• Evidence: Scanner input and console output; String[] days/items; int day/choice; double total; total += cost.</a:t>
            </a:r>
            <a:endParaRPr sz="1550"/>
          </a:p>
          <a:p>
            <a:pPr algn="l">
              <a:spcAft>
                <a:spcPts val="500"/>
              </a:spcAft>
              <a:defRPr sz="1550" b="0">
                <a:solidFill>
                  <a:srgbClr val="232B34"/>
                </a:solidFill>
                <a:latin typeface="Aptos"/>
              </a:defRPr>
            </a:pPr>
            <a:r>
              <a:rPr sz="1550" b="0">
                <a:solidFill>
                  <a:srgbClr val="232B34"/>
                </a:solidFill>
                <a:latin typeface="Aptos"/>
              </a:rPr>
              <a:t>• Current evidence: Demonstrated in the prototype.</a:t>
            </a:r>
            <a:endParaRPr sz="1550"/>
          </a:p>
        </p:txBody>
      </p:sp>
      <p:sp>
        <p:nvSpPr>
          <p:cNvPr id="7" name="CO2 · Control flow"/>
          <p:cNvSpPr txBox="1"/>
          <p:nvPr/>
        </p:nvSpPr>
        <p:spPr>
          <a:xfrm>
            <a:off x="777240" y="2823840"/>
            <a:ext cx="10972800" cy="560000"/>
          </a:xfrm>
          <a:prstGeom prst="rect">
            <a:avLst/>
          </a:prstGeom>
          <a:noFill/>
          <a:ln>
            <a:noFill/>
          </a:ln>
        </p:spPr>
        <p:txBody>
          <a:bodyPr wrap="square" anchor="t">
            <a:spAutoFit/>
          </a:bodyPr>
          <a:lstStyle/>
          <a:p>
            <a:pPr algn="l">
              <a:spcAft>
                <a:spcPts val="500"/>
              </a:spcAft>
              <a:defRPr sz="1800" b="1">
                <a:solidFill>
                  <a:srgbClr val="14223D"/>
                </a:solidFill>
                <a:latin typeface="Aptos"/>
              </a:defRPr>
            </a:pPr>
            <a:r>
              <a:rPr sz="1800" b="1">
                <a:solidFill>
                  <a:srgbClr val="14223D"/>
                </a:solidFill>
                <a:latin typeface="Aptos"/>
              </a:rPr>
              <a:t>CO2 · Control flow</a:t>
            </a:r>
            <a:endParaRPr sz="1800"/>
          </a:p>
        </p:txBody>
      </p:sp>
      <p:sp>
        <p:nvSpPr>
          <p:cNvPr id="8" name="Details"/>
          <p:cNvSpPr txBox="1"/>
          <p:nvPr/>
        </p:nvSpPr>
        <p:spPr>
          <a:xfrm>
            <a:off x="777240" y="3343840"/>
            <a:ext cx="10972800" cy="638240"/>
          </a:xfrm>
          <a:prstGeom prst="rect">
            <a:avLst/>
          </a:prstGeom>
          <a:noFill/>
          <a:ln>
            <a:noFill/>
          </a:ln>
        </p:spPr>
        <p:txBody>
          <a:bodyPr wrap="square" anchor="t">
            <a:spAutoFit/>
          </a:bodyPr>
          <a:lstStyle/>
          <a:p>
            <a:pPr algn="l">
              <a:spcAft>
                <a:spcPts val="500"/>
              </a:spcAft>
              <a:defRPr sz="1550" b="0">
                <a:solidFill>
                  <a:srgbClr val="232B34"/>
                </a:solidFill>
                <a:latin typeface="Aptos"/>
              </a:defRPr>
            </a:pPr>
            <a:r>
              <a:rPr sz="1550" b="0">
                <a:solidFill>
                  <a:srgbClr val="232B34"/>
                </a:solidFill>
                <a:latin typeface="Aptos"/>
              </a:rPr>
              <a:t>• Rubric focus: selection, loops and termination.</a:t>
            </a:r>
            <a:endParaRPr sz="1550"/>
          </a:p>
          <a:p>
            <a:pPr algn="l">
              <a:spcAft>
                <a:spcPts val="500"/>
              </a:spcAft>
              <a:defRPr sz="1550" b="0">
                <a:solidFill>
                  <a:srgbClr val="232B34"/>
                </a:solidFill>
                <a:latin typeface="Aptos"/>
              </a:defRPr>
            </a:pPr>
            <a:r>
              <a:rPr sz="1550" b="0">
                <a:solidFill>
                  <a:srgbClr val="232B34"/>
                </a:solidFill>
                <a:latin typeface="Aptos"/>
              </a:rPr>
              <a:t>• Evidence: while (day &lt; 7), switch cases, break/continue, for-each grocery loop and if check.</a:t>
            </a:r>
            <a:endParaRPr sz="1550"/>
          </a:p>
          <a:p>
            <a:pPr algn="l">
              <a:spcAft>
                <a:spcPts val="500"/>
              </a:spcAft>
              <a:defRPr sz="1550" b="0">
                <a:solidFill>
                  <a:srgbClr val="232B34"/>
                </a:solidFill>
                <a:latin typeface="Aptos"/>
              </a:defRPr>
            </a:pPr>
            <a:r>
              <a:rPr sz="1550" b="0">
                <a:solidFill>
                  <a:srgbClr val="232B34"/>
                </a:solidFill>
                <a:latin typeface="Aptos"/>
              </a:rPr>
              <a:t>• Current evidence: Demonstrated in the prototype.</a:t>
            </a:r>
            <a:endParaRPr sz="1550"/>
          </a:p>
        </p:txBody>
      </p:sp>
      <p:sp>
        <p:nvSpPr>
          <p:cNvPr id="9" name="CO3 · Methods, recursion and arrays"/>
          <p:cNvSpPr txBox="1"/>
          <p:nvPr/>
        </p:nvSpPr>
        <p:spPr>
          <a:xfrm>
            <a:off x="777240" y="4184640"/>
            <a:ext cx="10972800" cy="560000"/>
          </a:xfrm>
          <a:prstGeom prst="rect">
            <a:avLst/>
          </a:prstGeom>
          <a:noFill/>
          <a:ln>
            <a:noFill/>
          </a:ln>
        </p:spPr>
        <p:txBody>
          <a:bodyPr wrap="square" anchor="t">
            <a:spAutoFit/>
          </a:bodyPr>
          <a:lstStyle/>
          <a:p>
            <a:pPr algn="l">
              <a:spcAft>
                <a:spcPts val="500"/>
              </a:spcAft>
              <a:defRPr sz="1800" b="1">
                <a:solidFill>
                  <a:srgbClr val="14223D"/>
                </a:solidFill>
                <a:latin typeface="Aptos"/>
              </a:defRPr>
            </a:pPr>
            <a:r>
              <a:rPr sz="1800" b="1">
                <a:solidFill>
                  <a:srgbClr val="14223D"/>
                </a:solidFill>
                <a:latin typeface="Aptos"/>
              </a:rPr>
              <a:t>CO3 · Methods, recursion and arrays</a:t>
            </a:r>
            <a:endParaRPr sz="1800"/>
          </a:p>
        </p:txBody>
      </p:sp>
      <p:sp>
        <p:nvSpPr>
          <p:cNvPr id="10" name="Details"/>
          <p:cNvSpPr txBox="1"/>
          <p:nvPr/>
        </p:nvSpPr>
        <p:spPr>
          <a:xfrm>
            <a:off x="777240" y="4704640"/>
            <a:ext cx="10972800" cy="935420"/>
          </a:xfrm>
          <a:prstGeom prst="rect">
            <a:avLst/>
          </a:prstGeom>
          <a:noFill/>
          <a:ln>
            <a:noFill/>
          </a:ln>
        </p:spPr>
        <p:txBody>
          <a:bodyPr wrap="square" anchor="t">
            <a:spAutoFit/>
          </a:bodyPr>
          <a:lstStyle/>
          <a:p>
            <a:pPr algn="l">
              <a:spcAft>
                <a:spcPts val="500"/>
              </a:spcAft>
              <a:defRPr sz="1550" b="0">
                <a:solidFill>
                  <a:srgbClr val="232B34"/>
                </a:solidFill>
                <a:latin typeface="Aptos"/>
              </a:defRPr>
            </a:pPr>
            <a:r>
              <a:rPr sz="1550" b="0">
                <a:solidFill>
                  <a:srgbClr val="232B34"/>
                </a:solidFill>
                <a:latin typeface="Aptos"/>
              </a:rPr>
              <a:t>• Rubric focus: modular methods, recursion, and 1-D/2-D arrays.</a:t>
            </a:r>
            <a:endParaRPr sz="1550"/>
          </a:p>
          <a:p>
            <a:pPr algn="l">
              <a:spcAft>
                <a:spcPts val="500"/>
              </a:spcAft>
              <a:defRPr sz="1550" b="0">
                <a:solidFill>
                  <a:srgbClr val="232B34"/>
                </a:solidFill>
                <a:latin typeface="Aptos"/>
              </a:defRPr>
            </a:pPr>
            <a:r>
              <a:rPr sz="1550" b="0">
                <a:solidFill>
                  <a:srgbClr val="232B34"/>
                </a:solidFill>
                <a:latin typeface="Aptos"/>
              </a:rPr>
              <a:t>• Evidence: one-dimensional String[] arrays and main method are shown.</a:t>
            </a:r>
            <a:endParaRPr sz="1550"/>
          </a:p>
          <a:p>
            <a:pPr algn="l">
              <a:spcAft>
                <a:spcPts val="500"/>
              </a:spcAft>
              <a:defRPr sz="1550" b="0">
                <a:solidFill>
                  <a:srgbClr val="232B34"/>
                </a:solidFill>
                <a:latin typeface="Aptos"/>
              </a:defRPr>
            </a:pPr>
            <a:r>
              <a:rPr sz="1550" b="0">
                <a:solidFill>
                  <a:srgbClr val="232B34"/>
                </a:solidFill>
                <a:latin typeface="Aptos"/>
              </a:rPr>
              <a:t>• Current evidence: Partially demonstrated. Additional methods, recursion and 2-D arrays are not demonstrated in the current prototype; future enhancement.</a:t>
            </a:r>
            <a:endParaRPr sz="1550"/>
          </a:p>
        </p:txBody>
      </p:sp>
      <p:sp>
        <p:nvSpPr>
          <p:cNvPr id="11" name="Faculty assessment note"/>
          <p:cNvSpPr txBox="1"/>
          <p:nvPr/>
        </p:nvSpPr>
        <p:spPr>
          <a:xfrm>
            <a:off x="777240" y="6172200"/>
            <a:ext cx="10972800" cy="200000"/>
          </a:xfrm>
          <a:prstGeom prst="rect">
            <a:avLst/>
          </a:prstGeom>
          <a:noFill/>
          <a:ln>
            <a:noFill/>
          </a:ln>
        </p:spPr>
        <p:txBody>
          <a:bodyPr wrap="square" anchor="t">
            <a:spAutoFit/>
          </a:bodyPr>
          <a:lstStyle/>
          <a:p>
            <a:pPr algn="l">
              <a:spcAft>
                <a:spcPts val="500"/>
              </a:spcAft>
              <a:defRPr sz="1150" b="0">
                <a:solidFill>
                  <a:srgbClr val="697480"/>
                </a:solidFill>
                <a:latin typeface="Aptos"/>
              </a:defRPr>
            </a:pPr>
            <a:r>
              <a:rPr sz="1150" b="0">
                <a:solidFill>
                  <a:srgbClr val="697480"/>
                </a:solidFill>
                <a:latin typeface="Aptos"/>
              </a:rPr>
              <a:t>Rubric levels (Excellent / Good / Satisfactory / Needs Improvement) require faculty evaluation. No scores are assigned in this presentation.</a:t>
            </a:r>
            <a:endParaRPr sz="1150"/>
          </a:p>
        </p:txBody>
      </p:sp>
      <p:sp>
        <p:nvSpPr>
          <p:cNvPr id="12" name="Footer"/>
          <p:cNvSpPr txBox="1"/>
          <p:nvPr/>
        </p:nvSpPr>
        <p:spPr>
          <a:xfrm>
            <a:off x="594360" y="6473952"/>
            <a:ext cx="10972800" cy="228600"/>
          </a:xfrm>
          <a:prstGeom prst="rect">
            <a:avLst/>
          </a:prstGeom>
          <a:noFill/>
          <a:ln>
            <a:noFill/>
          </a:ln>
        </p:spPr>
        <p:txBody>
          <a:bodyPr wrap="square" anchor="t">
            <a:spAutoFit/>
          </a:bodyPr>
          <a:lstStyle/>
          <a:p>
            <a:pPr algn="l">
              <a:spcAft>
                <a:spcPts val="500"/>
              </a:spcAft>
              <a:defRPr sz="800" b="0">
                <a:solidFill>
                  <a:srgbClr val="697480"/>
                </a:solidFill>
                <a:latin typeface="Aptos"/>
              </a:defRPr>
            </a:pPr>
            <a:r>
              <a:rPr sz="800" b="0">
                <a:solidFill>
                  <a:srgbClr val="697480"/>
                </a:solidFill>
                <a:latin typeface="Aptos"/>
              </a:rPr>
              <a:t>CS &amp; IT  |  Weekly Meal Planner &amp; Grocery Generator  |  Project Expo supplement</a:t>
            </a:r>
            <a:endParaRPr sz="80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Background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2F8F7"/>
          </a:solidFill>
          <a:ln>
            <a:noFill/>
          </a:ln>
        </p:spPr>
      </p:sp>
      <p:sp>
        <p:nvSpPr>
          <p:cNvPr id="3" name="Slide title"/>
          <p:cNvSpPr txBox="1"/>
          <p:nvPr/>
        </p:nvSpPr>
        <p:spPr>
          <a:xfrm>
            <a:off x="594360" y="320040"/>
            <a:ext cx="10972800" cy="594360"/>
          </a:xfrm>
          <a:prstGeom prst="rect">
            <a:avLst/>
          </a:prstGeom>
          <a:noFill/>
          <a:ln>
            <a:noFill/>
          </a:ln>
        </p:spPr>
        <p:txBody>
          <a:bodyPr wrap="square" anchor="t">
            <a:spAutoFit/>
          </a:bodyPr>
          <a:lstStyle/>
          <a:p>
            <a:pPr algn="l">
              <a:spcAft>
                <a:spcPts val="500"/>
              </a:spcAft>
              <a:defRPr sz="2800" b="1">
                <a:solidFill>
                  <a:srgbClr val="14223D"/>
                </a:solidFill>
                <a:latin typeface="Aptos Display"/>
              </a:defRPr>
            </a:pPr>
            <a:r>
              <a:rPr sz="2800" b="1">
                <a:solidFill>
                  <a:srgbClr val="14223D"/>
                </a:solidFill>
                <a:latin typeface="Aptos Display"/>
              </a:rPr>
              <a:t>CO attainment: CO4–CO6</a:t>
            </a:r>
            <a:endParaRPr sz="2800"/>
          </a:p>
        </p:txBody>
      </p:sp>
      <p:sp>
        <p:nvSpPr>
          <p:cNvPr id="4" name="Teal accent"/>
          <p:cNvSpPr/>
          <p:nvPr/>
        </p:nvSpPr>
        <p:spPr>
          <a:xfrm>
            <a:off x="594360" y="1170432"/>
            <a:ext cx="10972800" cy="45720"/>
          </a:xfrm>
          <a:prstGeom prst="rect">
            <a:avLst/>
          </a:prstGeom>
          <a:solidFill>
            <a:srgbClr val="009688"/>
          </a:solidFill>
          <a:ln>
            <a:noFill/>
          </a:ln>
        </p:spPr>
      </p:sp>
      <p:sp>
        <p:nvSpPr>
          <p:cNvPr id="5" name="CO4 · Objects that fail safely"/>
          <p:cNvSpPr txBox="1"/>
          <p:nvPr/>
        </p:nvSpPr>
        <p:spPr>
          <a:xfrm>
            <a:off x="777240" y="1463040"/>
            <a:ext cx="10972800" cy="560000"/>
          </a:xfrm>
          <a:prstGeom prst="rect">
            <a:avLst/>
          </a:prstGeom>
          <a:noFill/>
          <a:ln>
            <a:noFill/>
          </a:ln>
        </p:spPr>
        <p:txBody>
          <a:bodyPr wrap="square" anchor="t">
            <a:spAutoFit/>
          </a:bodyPr>
          <a:lstStyle/>
          <a:p>
            <a:pPr algn="l">
              <a:spcAft>
                <a:spcPts val="500"/>
              </a:spcAft>
              <a:defRPr sz="1800" b="1">
                <a:solidFill>
                  <a:srgbClr val="14223D"/>
                </a:solidFill>
                <a:latin typeface="Aptos"/>
              </a:defRPr>
            </a:pPr>
            <a:r>
              <a:rPr sz="1800" b="1">
                <a:solidFill>
                  <a:srgbClr val="14223D"/>
                </a:solidFill>
                <a:latin typeface="Aptos"/>
              </a:rPr>
              <a:t>CO4 · Objects that fail safely</a:t>
            </a:r>
            <a:endParaRPr sz="1800"/>
          </a:p>
        </p:txBody>
      </p:sp>
      <p:sp>
        <p:nvSpPr>
          <p:cNvPr id="6" name="Details"/>
          <p:cNvSpPr txBox="1"/>
          <p:nvPr/>
        </p:nvSpPr>
        <p:spPr>
          <a:xfrm>
            <a:off x="777240" y="1983040"/>
            <a:ext cx="10972800" cy="638240"/>
          </a:xfrm>
          <a:prstGeom prst="rect">
            <a:avLst/>
          </a:prstGeom>
          <a:noFill/>
          <a:ln>
            <a:noFill/>
          </a:ln>
        </p:spPr>
        <p:txBody>
          <a:bodyPr wrap="square" anchor="t">
            <a:spAutoFit/>
          </a:bodyPr>
          <a:lstStyle/>
          <a:p>
            <a:pPr algn="l">
              <a:spcAft>
                <a:spcPts val="500"/>
              </a:spcAft>
              <a:defRPr sz="1550" b="0">
                <a:solidFill>
                  <a:srgbClr val="232B34"/>
                </a:solidFill>
                <a:latin typeface="Aptos"/>
              </a:defRPr>
            </a:pPr>
            <a:r>
              <a:rPr sz="1550" b="0">
                <a:solidFill>
                  <a:srgbClr val="232B34"/>
                </a:solidFill>
                <a:latin typeface="Aptos"/>
              </a:rPr>
              <a:t>• Rubric focus: OOP, encapsulation and exceptions.</a:t>
            </a:r>
            <a:endParaRPr sz="1550"/>
          </a:p>
          <a:p>
            <a:pPr algn="l">
              <a:spcAft>
                <a:spcPts val="500"/>
              </a:spcAft>
              <a:defRPr sz="1550" b="0">
                <a:solidFill>
                  <a:srgbClr val="232B34"/>
                </a:solidFill>
                <a:latin typeface="Aptos"/>
              </a:defRPr>
            </a:pPr>
            <a:r>
              <a:rPr sz="1550" b="0">
                <a:solidFill>
                  <a:srgbClr val="232B34"/>
                </a:solidFill>
                <a:latin typeface="Aptos"/>
              </a:rPr>
              <a:t>• Evidence: A class with a static main method is shown; no encapsulated object design or exception handling is shown.</a:t>
            </a:r>
            <a:endParaRPr sz="1550"/>
          </a:p>
          <a:p>
            <a:pPr algn="l">
              <a:spcAft>
                <a:spcPts val="500"/>
              </a:spcAft>
              <a:defRPr sz="1550" b="0">
                <a:solidFill>
                  <a:srgbClr val="232B34"/>
                </a:solidFill>
                <a:latin typeface="Aptos"/>
              </a:defRPr>
            </a:pPr>
            <a:r>
              <a:rPr sz="1550" b="0">
                <a:solidFill>
                  <a:srgbClr val="232B34"/>
                </a:solidFill>
                <a:latin typeface="Aptos"/>
              </a:rPr>
              <a:t>• Current evidence: Not demonstrated in the current prototype; future enhancement.</a:t>
            </a:r>
            <a:endParaRPr sz="1550"/>
          </a:p>
        </p:txBody>
      </p:sp>
      <p:sp>
        <p:nvSpPr>
          <p:cNvPr id="7" name="CO5 · Strings, library algorithms and files"/>
          <p:cNvSpPr txBox="1"/>
          <p:nvPr/>
        </p:nvSpPr>
        <p:spPr>
          <a:xfrm>
            <a:off x="777240" y="2926080"/>
            <a:ext cx="10972800" cy="560000"/>
          </a:xfrm>
          <a:prstGeom prst="rect">
            <a:avLst/>
          </a:prstGeom>
          <a:noFill/>
          <a:ln>
            <a:noFill/>
          </a:ln>
        </p:spPr>
        <p:txBody>
          <a:bodyPr wrap="square" anchor="t">
            <a:spAutoFit/>
          </a:bodyPr>
          <a:lstStyle/>
          <a:p>
            <a:pPr algn="l">
              <a:spcAft>
                <a:spcPts val="500"/>
              </a:spcAft>
              <a:defRPr sz="1800" b="1">
                <a:solidFill>
                  <a:srgbClr val="14223D"/>
                </a:solidFill>
                <a:latin typeface="Aptos"/>
              </a:defRPr>
            </a:pPr>
            <a:r>
              <a:rPr sz="1800" b="1" dirty="0">
                <a:solidFill>
                  <a:srgbClr val="14223D"/>
                </a:solidFill>
                <a:latin typeface="Aptos"/>
              </a:rPr>
              <a:t>CO5 · Strings, library algorithms and files</a:t>
            </a:r>
            <a:endParaRPr sz="1800" dirty="0"/>
          </a:p>
        </p:txBody>
      </p:sp>
      <p:sp>
        <p:nvSpPr>
          <p:cNvPr id="8" name="Details"/>
          <p:cNvSpPr txBox="1"/>
          <p:nvPr/>
        </p:nvSpPr>
        <p:spPr>
          <a:xfrm>
            <a:off x="777240" y="3343840"/>
            <a:ext cx="10972800" cy="638240"/>
          </a:xfrm>
          <a:prstGeom prst="rect">
            <a:avLst/>
          </a:prstGeom>
          <a:noFill/>
          <a:ln>
            <a:noFill/>
          </a:ln>
        </p:spPr>
        <p:txBody>
          <a:bodyPr wrap="square" anchor="t">
            <a:spAutoFit/>
          </a:bodyPr>
          <a:lstStyle/>
          <a:p>
            <a:pPr algn="l">
              <a:spcAft>
                <a:spcPts val="500"/>
              </a:spcAft>
              <a:defRPr sz="1550" b="0">
                <a:solidFill>
                  <a:srgbClr val="232B34"/>
                </a:solidFill>
                <a:latin typeface="Aptos"/>
              </a:defRPr>
            </a:pPr>
            <a:r>
              <a:rPr sz="1550" b="0" dirty="0">
                <a:solidFill>
                  <a:srgbClr val="232B34"/>
                </a:solidFill>
                <a:latin typeface="Aptos"/>
              </a:rPr>
              <a:t>• Rubric focus: strings, searching, sorting and file I/O.</a:t>
            </a:r>
            <a:endParaRPr sz="1550" dirty="0"/>
          </a:p>
          <a:p>
            <a:pPr algn="l">
              <a:spcAft>
                <a:spcPts val="500"/>
              </a:spcAft>
              <a:defRPr sz="1550" b="0">
                <a:solidFill>
                  <a:srgbClr val="232B34"/>
                </a:solidFill>
                <a:latin typeface="Aptos"/>
              </a:defRPr>
            </a:pPr>
            <a:r>
              <a:rPr sz="1550" b="0" dirty="0">
                <a:solidFill>
                  <a:srgbClr val="232B34"/>
                </a:solidFill>
                <a:latin typeface="Aptos"/>
              </a:rPr>
              <a:t>• Evidence: String input, concatenation and </a:t>
            </a:r>
            <a:r>
              <a:rPr sz="1550" b="0" dirty="0" err="1">
                <a:solidFill>
                  <a:srgbClr val="232B34"/>
                </a:solidFill>
                <a:latin typeface="Aptos"/>
              </a:rPr>
              <a:t>equalsIgnoreCase</a:t>
            </a:r>
            <a:r>
              <a:rPr sz="1550" b="0" dirty="0">
                <a:solidFill>
                  <a:srgbClr val="232B34"/>
                </a:solidFill>
                <a:latin typeface="Aptos"/>
              </a:rPr>
              <a:t> appear in the code. Searching, sorting and file I/O are not shown.</a:t>
            </a:r>
            <a:endParaRPr sz="1550" dirty="0"/>
          </a:p>
          <a:p>
            <a:pPr algn="l">
              <a:spcAft>
                <a:spcPts val="500"/>
              </a:spcAft>
              <a:defRPr sz="1550" b="0">
                <a:solidFill>
                  <a:srgbClr val="232B34"/>
                </a:solidFill>
                <a:latin typeface="Aptos"/>
              </a:defRPr>
            </a:pPr>
            <a:r>
              <a:rPr sz="1550" b="0" dirty="0">
                <a:solidFill>
                  <a:srgbClr val="232B34"/>
                </a:solidFill>
                <a:latin typeface="Aptos"/>
              </a:rPr>
              <a:t>• Current evidence: Partially demonstrated. Searching, sorting and file I/O are not demonstrated in the current prototype; future enhancement.</a:t>
            </a:r>
            <a:endParaRPr sz="1550" dirty="0"/>
          </a:p>
        </p:txBody>
      </p:sp>
      <p:sp>
        <p:nvSpPr>
          <p:cNvPr id="9" name="CO6 · Collections and streams"/>
          <p:cNvSpPr txBox="1"/>
          <p:nvPr/>
        </p:nvSpPr>
        <p:spPr>
          <a:xfrm>
            <a:off x="777240" y="4424640"/>
            <a:ext cx="10972800" cy="560000"/>
          </a:xfrm>
          <a:prstGeom prst="rect">
            <a:avLst/>
          </a:prstGeom>
          <a:noFill/>
          <a:ln>
            <a:noFill/>
          </a:ln>
        </p:spPr>
        <p:txBody>
          <a:bodyPr wrap="square" anchor="t">
            <a:spAutoFit/>
          </a:bodyPr>
          <a:lstStyle/>
          <a:p>
            <a:pPr algn="l">
              <a:spcAft>
                <a:spcPts val="500"/>
              </a:spcAft>
              <a:defRPr sz="1800" b="1">
                <a:solidFill>
                  <a:srgbClr val="14223D"/>
                </a:solidFill>
                <a:latin typeface="Aptos"/>
              </a:defRPr>
            </a:pPr>
            <a:r>
              <a:rPr sz="1800" b="1" dirty="0">
                <a:solidFill>
                  <a:srgbClr val="14223D"/>
                </a:solidFill>
                <a:latin typeface="Aptos"/>
              </a:rPr>
              <a:t>CO6 · Collections and streams</a:t>
            </a:r>
            <a:endParaRPr sz="1800" dirty="0"/>
          </a:p>
        </p:txBody>
      </p:sp>
      <p:sp>
        <p:nvSpPr>
          <p:cNvPr id="10" name="Details"/>
          <p:cNvSpPr txBox="1"/>
          <p:nvPr/>
        </p:nvSpPr>
        <p:spPr>
          <a:xfrm>
            <a:off x="777240" y="4704640"/>
            <a:ext cx="10972800" cy="935420"/>
          </a:xfrm>
          <a:prstGeom prst="rect">
            <a:avLst/>
          </a:prstGeom>
          <a:noFill/>
          <a:ln>
            <a:noFill/>
          </a:ln>
        </p:spPr>
        <p:txBody>
          <a:bodyPr wrap="square" anchor="t">
            <a:spAutoFit/>
          </a:bodyPr>
          <a:lstStyle/>
          <a:p>
            <a:pPr algn="l">
              <a:spcAft>
                <a:spcPts val="500"/>
              </a:spcAft>
              <a:defRPr sz="1550" b="0">
                <a:solidFill>
                  <a:srgbClr val="232B34"/>
                </a:solidFill>
                <a:latin typeface="Aptos"/>
              </a:defRPr>
            </a:pPr>
            <a:r>
              <a:rPr sz="1550" b="0">
                <a:solidFill>
                  <a:srgbClr val="232B34"/>
                </a:solidFill>
                <a:latin typeface="Aptos"/>
              </a:rPr>
              <a:t>• Rubric focus: collections, lambdas and streams.</a:t>
            </a:r>
            <a:endParaRPr sz="1550"/>
          </a:p>
          <a:p>
            <a:pPr algn="l">
              <a:spcAft>
                <a:spcPts val="500"/>
              </a:spcAft>
              <a:defRPr sz="1550" b="0">
                <a:solidFill>
                  <a:srgbClr val="232B34"/>
                </a:solidFill>
                <a:latin typeface="Aptos"/>
              </a:defRPr>
            </a:pPr>
            <a:r>
              <a:rPr sz="1550" b="0">
                <a:solidFill>
                  <a:srgbClr val="232B34"/>
                </a:solidFill>
                <a:latin typeface="Aptos"/>
              </a:rPr>
              <a:t>• Evidence: The prototype uses arrays; no collections, lambdas or streams are shown.</a:t>
            </a:r>
            <a:endParaRPr sz="1550"/>
          </a:p>
          <a:p>
            <a:pPr algn="l">
              <a:spcAft>
                <a:spcPts val="500"/>
              </a:spcAft>
              <a:defRPr sz="1550" b="0">
                <a:solidFill>
                  <a:srgbClr val="232B34"/>
                </a:solidFill>
                <a:latin typeface="Aptos"/>
              </a:defRPr>
            </a:pPr>
            <a:r>
              <a:rPr sz="1550" b="0">
                <a:solidFill>
                  <a:srgbClr val="232B34"/>
                </a:solidFill>
                <a:latin typeface="Aptos"/>
              </a:rPr>
              <a:t>• Current evidence: Not demonstrated in the current prototype; future enhancement.</a:t>
            </a:r>
            <a:endParaRPr sz="1550"/>
          </a:p>
        </p:txBody>
      </p:sp>
      <p:sp>
        <p:nvSpPr>
          <p:cNvPr id="11" name="Faculty assessment note"/>
          <p:cNvSpPr txBox="1"/>
          <p:nvPr/>
        </p:nvSpPr>
        <p:spPr>
          <a:xfrm>
            <a:off x="777240" y="6172200"/>
            <a:ext cx="10972800" cy="200000"/>
          </a:xfrm>
          <a:prstGeom prst="rect">
            <a:avLst/>
          </a:prstGeom>
          <a:noFill/>
          <a:ln>
            <a:noFill/>
          </a:ln>
        </p:spPr>
        <p:txBody>
          <a:bodyPr wrap="square" anchor="t">
            <a:spAutoFit/>
          </a:bodyPr>
          <a:lstStyle/>
          <a:p>
            <a:pPr algn="l">
              <a:spcAft>
                <a:spcPts val="500"/>
              </a:spcAft>
              <a:defRPr sz="1150" b="0">
                <a:solidFill>
                  <a:srgbClr val="697480"/>
                </a:solidFill>
                <a:latin typeface="Aptos"/>
              </a:defRPr>
            </a:pPr>
            <a:r>
              <a:rPr sz="1150" b="0">
                <a:solidFill>
                  <a:srgbClr val="697480"/>
                </a:solidFill>
                <a:latin typeface="Aptos"/>
              </a:rPr>
              <a:t>Rubric levels (Excellent / Good / Satisfactory / Needs Improvement) require faculty evaluation. No scores are assigned in this presentation.</a:t>
            </a:r>
            <a:endParaRPr sz="1150"/>
          </a:p>
        </p:txBody>
      </p:sp>
      <p:sp>
        <p:nvSpPr>
          <p:cNvPr id="12" name="Footer"/>
          <p:cNvSpPr txBox="1"/>
          <p:nvPr/>
        </p:nvSpPr>
        <p:spPr>
          <a:xfrm>
            <a:off x="594360" y="6473952"/>
            <a:ext cx="10972800" cy="228600"/>
          </a:xfrm>
          <a:prstGeom prst="rect">
            <a:avLst/>
          </a:prstGeom>
          <a:noFill/>
          <a:ln>
            <a:noFill/>
          </a:ln>
        </p:spPr>
        <p:txBody>
          <a:bodyPr wrap="square" anchor="t">
            <a:spAutoFit/>
          </a:bodyPr>
          <a:lstStyle/>
          <a:p>
            <a:pPr algn="l">
              <a:spcAft>
                <a:spcPts val="500"/>
              </a:spcAft>
              <a:defRPr sz="800" b="0">
                <a:solidFill>
                  <a:srgbClr val="697480"/>
                </a:solidFill>
                <a:latin typeface="Aptos"/>
              </a:defRPr>
            </a:pPr>
            <a:r>
              <a:rPr sz="800" b="0">
                <a:solidFill>
                  <a:srgbClr val="697480"/>
                </a:solidFill>
                <a:latin typeface="Aptos"/>
              </a:rPr>
              <a:t>CS &amp; IT  |  Weekly Meal Planner &amp; Grocery Generator  |  Project Expo supplement</a:t>
            </a:r>
            <a:endParaRPr sz="80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2F8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94360" y="320040"/>
            <a:ext cx="10972800" cy="5943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800" b="1">
                <a:solidFill>
                  <a:srgbClr val="14223D"/>
                </a:solidFill>
                <a:latin typeface="Aptos Display"/>
              </a:rPr>
              <a:t>11. Conclusion</a:t>
            </a:r>
          </a:p>
        </p:txBody>
      </p:sp>
      <p:sp>
        <p:nvSpPr>
          <p:cNvPr id="4" name="Rectangle 3"/>
          <p:cNvSpPr/>
          <p:nvPr/>
        </p:nvSpPr>
        <p:spPr>
          <a:xfrm>
            <a:off x="594360" y="1170432"/>
            <a:ext cx="10972800" cy="45720"/>
          </a:xfrm>
          <a:prstGeom prst="rect">
            <a:avLst/>
          </a:prstGeom>
          <a:solidFill>
            <a:srgbClr val="0096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Rounded Rectangle 4"/>
          <p:cNvSpPr/>
          <p:nvPr/>
        </p:nvSpPr>
        <p:spPr>
          <a:xfrm>
            <a:off x="822960" y="1554480"/>
            <a:ext cx="10515600" cy="4114800"/>
          </a:xfrm>
          <a:prstGeom prst="roundRect">
            <a:avLst/>
          </a:prstGeom>
          <a:solidFill>
            <a:srgbClr val="FFFFFF"/>
          </a:solidFill>
          <a:ln>
            <a:solidFill>
              <a:srgbClr val="DCE4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Rectangle 5"/>
          <p:cNvSpPr/>
          <p:nvPr/>
        </p:nvSpPr>
        <p:spPr>
          <a:xfrm>
            <a:off x="822960" y="1554480"/>
            <a:ext cx="73152" cy="4114800"/>
          </a:xfrm>
          <a:prstGeom prst="rect">
            <a:avLst/>
          </a:prstGeom>
          <a:solidFill>
            <a:srgbClr val="0096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1051560" y="1719072"/>
            <a:ext cx="101041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800" b="1">
                <a:solidFill>
                  <a:srgbClr val="14223D"/>
                </a:solidFill>
                <a:latin typeface="Aptos Display"/>
              </a:rPr>
              <a:t>Project Outcome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51560" y="2194560"/>
            <a:ext cx="10104120" cy="3337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>
                <a:solidFill>
                  <a:srgbClr val="232B34"/>
                </a:solidFill>
                <a:latin typeface="Aptos"/>
              </a:rPr>
              <a:t>The Weekly Meal Planner &amp; Grocery Generator provides a simple Java-based approach to weekly meal planning.
• Plans meals for seven days.
• Uses switch to select meals and calculates estimated cost.
• Checks grocery availability using a for-each loop and if condition.
• Displays missing items and the final estimated cost.
• Demonstrates practical use of fundamental Java programming concepts.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94360" y="6473952"/>
            <a:ext cx="109728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800">
                <a:solidFill>
                  <a:srgbClr val="697480"/>
                </a:solidFill>
                <a:latin typeface="Aptos"/>
              </a:rPr>
              <a:t>CS &amp; IT  |  Weekly Meal Planner &amp; Grocery Generator  |  15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422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914400" y="1828800"/>
            <a:ext cx="10332720" cy="10972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4800" b="1">
                <a:solidFill>
                  <a:srgbClr val="FFFFFF"/>
                </a:solidFill>
                <a:latin typeface="Aptos Display"/>
              </a:rPr>
              <a:t>THANK YOU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88720" y="2971800"/>
            <a:ext cx="9784080" cy="10972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2300">
                <a:solidFill>
                  <a:srgbClr val="CDE6E2"/>
                </a:solidFill>
                <a:latin typeface="Aptos"/>
              </a:rPr>
              <a:t>Weekly Meal Planner &amp; Grocery Generator
Questions &amp; Answers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011680" y="4572000"/>
            <a:ext cx="8138160" cy="10058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500">
                <a:solidFill>
                  <a:srgbClr val="FFFFFF"/>
                </a:solidFill>
                <a:latin typeface="Aptos"/>
              </a:rPr>
              <a:t>Y. Tarun Kumar  •  E. Sharan Teja
Faculty Guide: Gopikrishna  |  CS &amp; IT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4360" y="6473952"/>
            <a:ext cx="109728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800">
                <a:solidFill>
                  <a:srgbClr val="697480"/>
                </a:solidFill>
                <a:latin typeface="Aptos"/>
              </a:rPr>
              <a:t>CS &amp; IT  |  Weekly Meal Planner &amp; Grocery Generator  |  16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37</TotalTime>
  <Words>1352</Words>
  <Application>Microsoft Office PowerPoint</Application>
  <PresentationFormat>Widescreen</PresentationFormat>
  <Paragraphs>144</Paragraphs>
  <Slides>17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17</vt:i4>
      </vt:variant>
    </vt:vector>
  </HeadingPairs>
  <TitlesOfParts>
    <vt:vector size="22" baseType="lpstr">
      <vt:lpstr>Aptos</vt:lpstr>
      <vt:lpstr>Aptos Display</vt:lpstr>
      <vt:lpstr>Arial</vt:lpstr>
      <vt:lpstr>Calibri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tarunkumar1125@outlook.com</cp:lastModifiedBy>
  <cp:revision>5</cp:revision>
  <dcterms:created xsi:type="dcterms:W3CDTF">2013-01-27T09:14:16Z</dcterms:created>
  <dcterms:modified xsi:type="dcterms:W3CDTF">2026-10-16T06:31:29Z</dcterms:modified>
  <cp:category/>
</cp:coreProperties>
</file>